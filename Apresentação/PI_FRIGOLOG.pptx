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64" r:id="rId5"/>
    <p:sldId id="265" r:id="rId6"/>
    <p:sldId id="263" r:id="rId7"/>
    <p:sldId id="266" r:id="rId8"/>
    <p:sldId id="259" r:id="rId9"/>
    <p:sldId id="267" r:id="rId10"/>
    <p:sldId id="260" r:id="rId11"/>
    <p:sldId id="268" r:id="rId12"/>
    <p:sldId id="269" r:id="rId13"/>
    <p:sldId id="261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CDE9"/>
    <a:srgbClr val="6B6B6B"/>
    <a:srgbClr val="36B2DE"/>
    <a:srgbClr val="FFACC1"/>
    <a:srgbClr val="E9967A"/>
    <a:srgbClr val="090909"/>
    <a:srgbClr val="1E1E1E"/>
    <a:srgbClr val="E97A96"/>
    <a:srgbClr val="BA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21" autoAdjust="0"/>
    <p:restoredTop sz="94660"/>
  </p:normalViewPr>
  <p:slideViewPr>
    <p:cSldViewPr snapToGrid="0">
      <p:cViewPr>
        <p:scale>
          <a:sx n="100" d="100"/>
          <a:sy n="100" d="100"/>
        </p:scale>
        <p:origin x="196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34763-4099-64CF-ADD3-0D1610CC3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5ACAD5-0CC7-BB94-9D7D-4EE4599D0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793BDC-AAE7-A68A-5AF9-B83E8B9EA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2C55-384D-4201-93CD-D16971357B7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32808C-8520-BAD4-DFFD-7CA67B4E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2219E4-DC5C-1A27-98D4-99F381CF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9A0E-28F8-435A-BF5C-8171C5BDCB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681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81E31-6D00-0C5B-7629-64D5E860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8AF613-A567-93CD-A291-CD35C6F78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AFA17A-45F2-FF2A-7797-08990548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2C55-384D-4201-93CD-D16971357B7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E278EF-7F1C-F8FF-3C2B-23624EB17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59A47E-DF89-1DB2-48AC-D198ACF9C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9A0E-28F8-435A-BF5C-8171C5BDCB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417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E9BB1-9441-E1AD-FDDD-75D36595E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CBF0E0-AC5E-71A7-81B7-086E2D097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AD6FCC-B210-ECE9-9D1A-F0152A5F2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2C55-384D-4201-93CD-D16971357B7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26B7E2-F698-E544-7B89-5125F32E5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927A94-EC6F-052F-4FFE-3D40FD65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9A0E-28F8-435A-BF5C-8171C5BDCB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909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002BC-2315-83EE-BDC0-B13A1CD72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9A4D0D-C754-6200-AADC-C26D58C66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777EDC-0AF4-0420-C72A-03B5B0173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593A89-3E6B-8710-F360-11C984A0A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2C55-384D-4201-93CD-D16971357B7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FA10A2-232B-C315-D75D-30AEF7B08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D57E0B-253A-6696-BDA8-06360328D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9A0E-28F8-435A-BF5C-8171C5BDCB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93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57C10-45BD-813F-933B-B791BFC8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5E1F33-BF19-0F82-F858-D365F1801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857209-D0CB-E2E1-F998-5E356571C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97BDC69-F11B-2408-8993-1D92F4902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6E6B9E-A01F-7D1B-CF16-3FA78251AC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5CB4A-F5F2-26B9-13DF-17FC22A33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2C55-384D-4201-93CD-D16971357B7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B64FB83-6088-D5E1-A3BD-C524CF5EC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99DE740-CAF6-AB85-4B17-B745E290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9A0E-28F8-435A-BF5C-8171C5BDCB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9203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1F112-5B9B-F515-79A9-D5446EF7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2A6A4CE-3B8F-AF55-DF8E-354D95CC3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2C55-384D-4201-93CD-D16971357B7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0FB00EC-FCC1-0677-C9BC-C260993E4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7752B5-69A0-BE22-4B3E-75C61593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9A0E-28F8-435A-BF5C-8171C5BDCB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2900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5855933-54E0-83B2-8D24-565A4454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2C55-384D-4201-93CD-D16971357B7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2AA3444-8728-E479-F349-627C82F32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ABD82E-D1AD-18E1-CA41-F07EF82C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9A0E-28F8-435A-BF5C-8171C5BDCB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9089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045DF-DEFC-2A66-756E-D3C929579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A6966F-2B29-B840-2AF2-65BB74F42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E1C4FA2-B2D8-69C4-18AF-952EC3F0B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12EE79-328C-4EF1-E808-06A5C8B54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2C55-384D-4201-93CD-D16971357B7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BC0EFB-A841-F482-9D41-6F7CF6021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FC58ED-44CD-4F13-8428-1F2BC412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9A0E-28F8-435A-BF5C-8171C5BDCB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19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43A88-1FF8-9584-B9DE-BD8DC50BE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E52E455-904D-A519-B6BB-9D563A1CE2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473E1EF-5B55-E0B4-ACE3-F79737EA0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E63899-D2A4-AE10-A4DE-644B38D1A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2C55-384D-4201-93CD-D16971357B7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37D3D7-6104-6AC7-B843-8132AE77F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5E2142-01FA-771A-32B6-F99CF359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9A0E-28F8-435A-BF5C-8171C5BDCB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7759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A55CC-A01B-BBC7-9CDB-E34577B79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F8C367-7ACA-14F4-2965-84E183831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4F3677-9190-15A7-0AAC-718A4933E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2C55-384D-4201-93CD-D16971357B7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E221CA-9B40-705D-F1B7-0687FF621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4143FF-0658-6DC0-62A4-ADA32DF4A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9A0E-28F8-435A-BF5C-8171C5BDCB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2825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694639-62F0-DC14-3783-F20E5195B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C5D2D4D-94B7-0BEE-30D2-CD394C67A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FC9E6C-6BB5-A667-95E3-6E465B77D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2C55-384D-4201-93CD-D16971357B7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BB4EAD-36F1-C805-0ECE-D577E751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9380ED-5D63-EE2F-2F26-FB7B8DF9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9A0E-28F8-435A-BF5C-8171C5BDCB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88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44AC56-7E32-F281-D50E-7D20EFE2A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760B54-4DB7-04DF-8D5F-D06E8548D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7B7585-1C86-E57B-0C18-B97772DCA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6D2C55-384D-4201-93CD-D16971357B7F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92EBE5-FE18-91B9-0821-B32D9ADE0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D056BF-5DBB-7512-DDAE-CCF728F1F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79A0E-28F8-435A-BF5C-8171C5BDCB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731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2D62176-4925-25C1-6DBF-BDA7A7489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369A52ED-B3D5-4AA8-7407-D70B2FA2C867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6803425F-A457-1401-7AD9-5B7EBCC43645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35EBC5C8-CC0C-2BAC-84E9-D31C277336E3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8612D2CA-4A5B-FB42-CDF5-82756DA07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F8A166F8-966D-84B2-6241-B22B8BCFB790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528BFD0-D4D1-4054-58E6-523D4153BA16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360AA45-E30F-C258-5C88-F187EEA40CA1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4B41E7C1-826F-B270-0C7D-5CA7F5E204B8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E7BD15CD-954D-DC9A-0E6A-7DF6E5D7659C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DFB64776-0BA7-6EB5-472D-05A22944E2AB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0EF5D2B8-DD30-255B-0812-592F8D8491B3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36729713-1658-1690-83D7-1F0A0A6C9CD8}"/>
              </a:ext>
            </a:extLst>
          </p:cNvPr>
          <p:cNvSpPr/>
          <p:nvPr/>
        </p:nvSpPr>
        <p:spPr>
          <a:xfrm>
            <a:off x="237484" y="38875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D4AC835D-A82F-8B0C-DD2D-7734D7970CF7}"/>
              </a:ext>
            </a:extLst>
          </p:cNvPr>
          <p:cNvSpPr txBox="1">
            <a:spLocks/>
          </p:cNvSpPr>
          <p:nvPr/>
        </p:nvSpPr>
        <p:spPr>
          <a:xfrm>
            <a:off x="237484" y="-16206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8579B537-B5C2-E48B-501E-BC88E83858C3}"/>
              </a:ext>
            </a:extLst>
          </p:cNvPr>
          <p:cNvSpPr/>
          <p:nvPr/>
        </p:nvSpPr>
        <p:spPr>
          <a:xfrm>
            <a:off x="237484" y="41992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DB90512B-2462-BB1D-F4B1-9FD165ED496B}"/>
              </a:ext>
            </a:extLst>
          </p:cNvPr>
          <p:cNvSpPr/>
          <p:nvPr/>
        </p:nvSpPr>
        <p:spPr>
          <a:xfrm>
            <a:off x="237484" y="4511017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B5D7E02C-6524-FC75-F658-EAD4CCAE109D}"/>
              </a:ext>
            </a:extLst>
          </p:cNvPr>
          <p:cNvSpPr/>
          <p:nvPr/>
        </p:nvSpPr>
        <p:spPr>
          <a:xfrm>
            <a:off x="237484" y="4841478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0552010A-947A-F514-834F-2E820F4144CD}"/>
              </a:ext>
            </a:extLst>
          </p:cNvPr>
          <p:cNvSpPr/>
          <p:nvPr/>
        </p:nvSpPr>
        <p:spPr>
          <a:xfrm>
            <a:off x="237484" y="517194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BA753EA8-36BF-8FAB-28B0-1AB029B11D35}"/>
              </a:ext>
            </a:extLst>
          </p:cNvPr>
          <p:cNvSpPr/>
          <p:nvPr/>
        </p:nvSpPr>
        <p:spPr>
          <a:xfrm>
            <a:off x="237484" y="5483687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CDA66E1A-3AA0-9FF3-A9E1-1E9AB94284FE}"/>
              </a:ext>
            </a:extLst>
          </p:cNvPr>
          <p:cNvSpPr/>
          <p:nvPr/>
        </p:nvSpPr>
        <p:spPr>
          <a:xfrm>
            <a:off x="237484" y="582631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5C9218-D3A5-3D4E-8251-1F9B100E5698}"/>
              </a:ext>
            </a:extLst>
          </p:cNvPr>
          <p:cNvSpPr txBox="1"/>
          <p:nvPr/>
        </p:nvSpPr>
        <p:spPr>
          <a:xfrm>
            <a:off x="300154" y="3687931"/>
            <a:ext cx="8974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kern="1200" dirty="0">
                <a:solidFill>
                  <a:srgbClr val="6B6B6B"/>
                </a:solidFill>
                <a:effectLst/>
                <a:latin typeface="Congenial SemiBold" panose="02000503040000020004" pitchFamily="2" charset="0"/>
                <a:ea typeface="+mn-ea"/>
                <a:cs typeface="+mn-cs"/>
              </a:rPr>
              <a:t>Amanda Tavares de Oliveira</a:t>
            </a:r>
            <a:endParaRPr lang="pt-BR" sz="240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AC0B64A-2DCC-E0C5-D7DB-01DCC0A073F4}"/>
              </a:ext>
            </a:extLst>
          </p:cNvPr>
          <p:cNvSpPr txBox="1"/>
          <p:nvPr/>
        </p:nvSpPr>
        <p:spPr>
          <a:xfrm>
            <a:off x="300154" y="4002751"/>
            <a:ext cx="8974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kern="1200" dirty="0">
                <a:solidFill>
                  <a:srgbClr val="6B6B6B"/>
                </a:solidFill>
                <a:effectLst/>
                <a:latin typeface="Congenial SemiBold" panose="02000503040000020004" pitchFamily="2" charset="0"/>
                <a:ea typeface="+mn-ea"/>
                <a:cs typeface="+mn-cs"/>
              </a:rPr>
              <a:t>Lucas Santos Gama</a:t>
            </a:r>
            <a:endParaRPr lang="pt-BR" sz="240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76A9871-D8AD-6E46-A114-82127425964A}"/>
              </a:ext>
            </a:extLst>
          </p:cNvPr>
          <p:cNvSpPr txBox="1"/>
          <p:nvPr/>
        </p:nvSpPr>
        <p:spPr>
          <a:xfrm>
            <a:off x="300154" y="5003777"/>
            <a:ext cx="8974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kern="1200" dirty="0">
                <a:solidFill>
                  <a:srgbClr val="6B6B6B"/>
                </a:solidFill>
                <a:effectLst/>
                <a:latin typeface="Congenial SemiBold" panose="02000503040000020004" pitchFamily="2" charset="0"/>
                <a:ea typeface="+mn-ea"/>
                <a:cs typeface="+mn-cs"/>
              </a:rPr>
              <a:t>Nicole Miranda Martins</a:t>
            </a:r>
            <a:endParaRPr lang="pt-BR" sz="240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3C41B23-ACA4-7DCB-DCE8-4EA3F5E8788D}"/>
              </a:ext>
            </a:extLst>
          </p:cNvPr>
          <p:cNvSpPr txBox="1"/>
          <p:nvPr/>
        </p:nvSpPr>
        <p:spPr>
          <a:xfrm>
            <a:off x="300154" y="4331739"/>
            <a:ext cx="8974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kern="1200" dirty="0">
                <a:solidFill>
                  <a:srgbClr val="6B6B6B"/>
                </a:solidFill>
                <a:effectLst/>
                <a:latin typeface="Congenial SemiBold" panose="02000503040000020004" pitchFamily="2" charset="0"/>
                <a:ea typeface="+mn-ea"/>
                <a:cs typeface="+mn-cs"/>
              </a:rPr>
              <a:t>Marina Santos Paixão Ribeiro</a:t>
            </a:r>
            <a:endParaRPr lang="pt-BR" sz="24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FC1F1A8-6324-C9B8-A801-72F363BBED5B}"/>
              </a:ext>
            </a:extLst>
          </p:cNvPr>
          <p:cNvSpPr txBox="1"/>
          <p:nvPr/>
        </p:nvSpPr>
        <p:spPr>
          <a:xfrm>
            <a:off x="300154" y="4691411"/>
            <a:ext cx="8974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kern="1200" dirty="0">
                <a:solidFill>
                  <a:srgbClr val="6B6B6B"/>
                </a:solidFill>
                <a:effectLst/>
                <a:latin typeface="Congenial SemiBold" panose="02000503040000020004" pitchFamily="2" charset="0"/>
                <a:ea typeface="+mn-ea"/>
                <a:cs typeface="+mn-cs"/>
              </a:rPr>
              <a:t>Matheus Jacob Duarte</a:t>
            </a:r>
            <a:endParaRPr lang="pt-BR" sz="2400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99D8D00-0BA0-A15F-006E-9E831E5AE57B}"/>
              </a:ext>
            </a:extLst>
          </p:cNvPr>
          <p:cNvSpPr txBox="1"/>
          <p:nvPr/>
        </p:nvSpPr>
        <p:spPr>
          <a:xfrm>
            <a:off x="300154" y="5320779"/>
            <a:ext cx="8974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kern="1200" dirty="0">
                <a:solidFill>
                  <a:srgbClr val="6B6B6B"/>
                </a:solidFill>
                <a:effectLst/>
                <a:latin typeface="Congenial SemiBold" panose="02000503040000020004" pitchFamily="2" charset="0"/>
                <a:ea typeface="+mn-ea"/>
                <a:cs typeface="+mn-cs"/>
              </a:rPr>
              <a:t>Pedro Ludovic Nascimento Lima</a:t>
            </a:r>
            <a:endParaRPr lang="pt-BR" sz="24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B892533-2D88-0E0C-662C-D0566AC36DC1}"/>
              </a:ext>
            </a:extLst>
          </p:cNvPr>
          <p:cNvSpPr txBox="1"/>
          <p:nvPr/>
        </p:nvSpPr>
        <p:spPr>
          <a:xfrm>
            <a:off x="300154" y="5655877"/>
            <a:ext cx="8974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kern="1200" dirty="0">
                <a:solidFill>
                  <a:srgbClr val="6B6B6B"/>
                </a:solidFill>
                <a:effectLst/>
                <a:latin typeface="Congenial SemiBold" panose="02000503040000020004" pitchFamily="2" charset="0"/>
                <a:ea typeface="+mn-ea"/>
                <a:cs typeface="+mn-cs"/>
              </a:rPr>
              <a:t>Vitor da Luz Santos</a:t>
            </a:r>
            <a:endParaRPr lang="pt-BR" sz="2400" dirty="0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B3E48180-30CA-9762-8F94-C8C935AAB2E4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BDC3FE0B-2880-3996-A766-A185A28C6386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A301286F-A986-6136-C898-A5BDBD3F8773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C96A7641-9378-A996-5E49-4F7B943C295E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7FC812A6-CBDF-3051-ED33-EEF854021188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D83C52C1-C930-BB76-701D-D9502C972353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27E22F9D-C66A-6FC8-B1DC-6FAEAADDE4A6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0370531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9D7D9-056B-60C8-93E3-679C676F2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4B06ECD-4CC5-1968-E548-3A60F9D6DE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8F26957-8D1F-B9CC-2043-00B4BD15FF70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4F7FEDAF-46A2-A215-9A84-0799B5A29B93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60AC0643-7D52-506C-B3C1-FBA9B0D7FFC3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3543DFD8-D2EE-212D-F8AD-308D0C574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55CF88A4-A28A-419E-79B2-5928AFA63440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DF0C4D7-F465-4E17-6D7E-6F9B1721A0E2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77D411A-6EC1-C5B5-EF6E-F02BBBFE99FE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45324F3F-57B0-C2A3-BAED-26616A69981A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FF75FA91-3A1D-933D-3588-E0FD22D3961A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E5988D42-BD49-EE01-4C85-18EC8724642E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49EFC66B-0DD9-E811-F1C8-AB7FBA99EFF8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90871446-7AAC-209A-D286-D558EC594518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862552A6-11B8-69CB-1EC7-BBA0F99AD47B}"/>
              </a:ext>
            </a:extLst>
          </p:cNvPr>
          <p:cNvSpPr txBox="1">
            <a:spLocks/>
          </p:cNvSpPr>
          <p:nvPr/>
        </p:nvSpPr>
        <p:spPr>
          <a:xfrm>
            <a:off x="-5599237" y="65200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435BE22B-297E-AD31-A9AF-E524200D49ED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3308718F-76BB-5621-64A3-3751C6DE1652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62270E5D-3867-147A-0D1E-34DF854356F0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84527415-6CA4-E948-F868-60957645C3A6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49DFB627-AE04-5338-C89C-3049AD09F9D3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754AC860-AD0C-970B-5E4B-57B0807C816B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F59A6E62-FE58-64B5-FC91-7AEA41C41454}"/>
              </a:ext>
            </a:extLst>
          </p:cNvPr>
          <p:cNvSpPr txBox="1">
            <a:spLocks/>
          </p:cNvSpPr>
          <p:nvPr/>
        </p:nvSpPr>
        <p:spPr>
          <a:xfrm>
            <a:off x="279339" y="2035241"/>
            <a:ext cx="6730271" cy="6973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00503040000020004" pitchFamily="2" charset="0"/>
              </a:rPr>
              <a:t>Logística refrigerada (Cold Chain) no setor de alimentos perecíveis, com foco no monitoramento de temperatura até o consumidor final.</a:t>
            </a:r>
          </a:p>
        </p:txBody>
      </p:sp>
      <p:pic>
        <p:nvPicPr>
          <p:cNvPr id="1026" name="Picture 2" descr="Overview of Cold Trucks - Cool Guys">
            <a:extLst>
              <a:ext uri="{FF2B5EF4-FFF2-40B4-BE49-F238E27FC236}">
                <a16:creationId xmlns:a16="http://schemas.microsoft.com/office/drawing/2014/main" id="{7A847673-8FE1-DFBC-1D64-E649AA6A6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952" y="7200003"/>
            <a:ext cx="1841344" cy="1654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now - Free weather icons">
            <a:extLst>
              <a:ext uri="{FF2B5EF4-FFF2-40B4-BE49-F238E27FC236}">
                <a16:creationId xmlns:a16="http://schemas.microsoft.com/office/drawing/2014/main" id="{0813026D-D6F1-FFA3-7531-CD43E221B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91" y="3270486"/>
            <a:ext cx="1079500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Snow - Free weather icons">
            <a:extLst>
              <a:ext uri="{FF2B5EF4-FFF2-40B4-BE49-F238E27FC236}">
                <a16:creationId xmlns:a16="http://schemas.microsoft.com/office/drawing/2014/main" id="{E74DD6F1-8443-687A-35DB-A04BA129C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8809" y="3270486"/>
            <a:ext cx="1079500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ree Truck SVG, PNG Icon, Symbol. Download Image.">
            <a:extLst>
              <a:ext uri="{FF2B5EF4-FFF2-40B4-BE49-F238E27FC236}">
                <a16:creationId xmlns:a16="http://schemas.microsoft.com/office/drawing/2014/main" id="{70019BA3-5ADF-CFE6-BE33-2124BBC3E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418" y="2781654"/>
            <a:ext cx="2057164" cy="205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271F8E71-F975-8325-D132-AD9320EDA595}"/>
              </a:ext>
            </a:extLst>
          </p:cNvPr>
          <p:cNvCxnSpPr>
            <a:cxnSpLocks/>
            <a:stCxn id="1032" idx="3"/>
            <a:endCxn id="1034" idx="1"/>
          </p:cNvCxnSpPr>
          <p:nvPr/>
        </p:nvCxnSpPr>
        <p:spPr>
          <a:xfrm>
            <a:off x="1973191" y="3810236"/>
            <a:ext cx="3094227" cy="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BA45F49B-EF05-3843-4EFD-50D8FC39CE6B}"/>
              </a:ext>
            </a:extLst>
          </p:cNvPr>
          <p:cNvCxnSpPr>
            <a:cxnSpLocks/>
            <a:stCxn id="1034" idx="3"/>
            <a:endCxn id="3" idx="1"/>
          </p:cNvCxnSpPr>
          <p:nvPr/>
        </p:nvCxnSpPr>
        <p:spPr>
          <a:xfrm>
            <a:off x="7124582" y="3810236"/>
            <a:ext cx="3094227" cy="0"/>
          </a:xfrm>
          <a:prstGeom prst="straightConnector1">
            <a:avLst/>
          </a:prstGeom>
          <a:ln w="5715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7A1EF8DB-4AEF-D487-B266-F083F131A995}"/>
              </a:ext>
            </a:extLst>
          </p:cNvPr>
          <p:cNvSpPr txBox="1"/>
          <p:nvPr/>
        </p:nvSpPr>
        <p:spPr>
          <a:xfrm>
            <a:off x="-4798495" y="3731800"/>
            <a:ext cx="8974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kern="1200" dirty="0">
                <a:solidFill>
                  <a:srgbClr val="6B6B6B"/>
                </a:solidFill>
                <a:effectLst/>
                <a:latin typeface="Congenial SemiBold" panose="02000503040000020004" pitchFamily="2" charset="0"/>
                <a:ea typeface="+mn-ea"/>
                <a:cs typeface="+mn-cs"/>
              </a:rPr>
              <a:t>Amanda Tavares de Oliveira</a:t>
            </a:r>
            <a:endParaRPr lang="pt-BR" sz="2400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CA365BD-213B-1B4C-909B-87F1E0EA5077}"/>
              </a:ext>
            </a:extLst>
          </p:cNvPr>
          <p:cNvSpPr txBox="1"/>
          <p:nvPr/>
        </p:nvSpPr>
        <p:spPr>
          <a:xfrm>
            <a:off x="-7861009" y="4047249"/>
            <a:ext cx="8974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kern="1200" dirty="0">
                <a:solidFill>
                  <a:srgbClr val="6B6B6B"/>
                </a:solidFill>
                <a:effectLst/>
                <a:latin typeface="Congenial SemiBold" panose="02000503040000020004" pitchFamily="2" charset="0"/>
                <a:ea typeface="+mn-ea"/>
                <a:cs typeface="+mn-cs"/>
              </a:rPr>
              <a:t>Lucas Santos Gama</a:t>
            </a:r>
            <a:endParaRPr lang="pt-BR" sz="2400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3201F1E-1C75-69AD-1242-39E79FD9E446}"/>
              </a:ext>
            </a:extLst>
          </p:cNvPr>
          <p:cNvSpPr txBox="1"/>
          <p:nvPr/>
        </p:nvSpPr>
        <p:spPr>
          <a:xfrm>
            <a:off x="-15741979" y="5010767"/>
            <a:ext cx="8974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kern="1200" dirty="0">
                <a:solidFill>
                  <a:srgbClr val="6B6B6B"/>
                </a:solidFill>
                <a:effectLst/>
                <a:latin typeface="Congenial SemiBold" panose="02000503040000020004" pitchFamily="2" charset="0"/>
                <a:ea typeface="+mn-ea"/>
                <a:cs typeface="+mn-cs"/>
              </a:rPr>
              <a:t>Nicole Miranda Martins</a:t>
            </a:r>
            <a:endParaRPr lang="pt-BR" sz="2400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55CA98EA-6B08-0DC4-8198-C55DBAC917FA}"/>
              </a:ext>
            </a:extLst>
          </p:cNvPr>
          <p:cNvSpPr txBox="1"/>
          <p:nvPr/>
        </p:nvSpPr>
        <p:spPr>
          <a:xfrm>
            <a:off x="-11791670" y="4375137"/>
            <a:ext cx="8974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kern="1200" dirty="0">
                <a:solidFill>
                  <a:srgbClr val="6B6B6B"/>
                </a:solidFill>
                <a:effectLst/>
                <a:latin typeface="Congenial SemiBold" panose="02000503040000020004" pitchFamily="2" charset="0"/>
                <a:ea typeface="+mn-ea"/>
                <a:cs typeface="+mn-cs"/>
              </a:rPr>
              <a:t>Marina Santos Paixão Ribeiro</a:t>
            </a:r>
            <a:endParaRPr lang="pt-BR" sz="2400" dirty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C71A3364-45F2-1588-D53C-16BD13A96712}"/>
              </a:ext>
            </a:extLst>
          </p:cNvPr>
          <p:cNvSpPr txBox="1"/>
          <p:nvPr/>
        </p:nvSpPr>
        <p:spPr>
          <a:xfrm>
            <a:off x="-13332895" y="4766652"/>
            <a:ext cx="8974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kern="1200" dirty="0">
                <a:solidFill>
                  <a:srgbClr val="6B6B6B"/>
                </a:solidFill>
                <a:effectLst/>
                <a:latin typeface="Congenial SemiBold" panose="02000503040000020004" pitchFamily="2" charset="0"/>
                <a:ea typeface="+mn-ea"/>
                <a:cs typeface="+mn-cs"/>
              </a:rPr>
              <a:t>Matheus Jacob Duarte</a:t>
            </a:r>
            <a:endParaRPr lang="pt-BR" sz="2400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764C480-96A2-4748-BF61-6E6CCB41B3AB}"/>
              </a:ext>
            </a:extLst>
          </p:cNvPr>
          <p:cNvSpPr txBox="1"/>
          <p:nvPr/>
        </p:nvSpPr>
        <p:spPr>
          <a:xfrm>
            <a:off x="-20932398" y="5284189"/>
            <a:ext cx="8974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kern="1200" dirty="0">
                <a:solidFill>
                  <a:srgbClr val="6B6B6B"/>
                </a:solidFill>
                <a:effectLst/>
                <a:latin typeface="Congenial SemiBold" panose="02000503040000020004" pitchFamily="2" charset="0"/>
                <a:ea typeface="+mn-ea"/>
                <a:cs typeface="+mn-cs"/>
              </a:rPr>
              <a:t>Pedro Ludovic Nascimento Lima</a:t>
            </a:r>
            <a:endParaRPr lang="pt-BR" sz="2400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50F96CE-DBB1-ED33-8609-C6C854B11E85}"/>
              </a:ext>
            </a:extLst>
          </p:cNvPr>
          <p:cNvSpPr txBox="1"/>
          <p:nvPr/>
        </p:nvSpPr>
        <p:spPr>
          <a:xfrm>
            <a:off x="-23826723" y="5570893"/>
            <a:ext cx="8974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kern="1200" dirty="0">
                <a:solidFill>
                  <a:srgbClr val="6B6B6B"/>
                </a:solidFill>
                <a:effectLst/>
                <a:latin typeface="Congenial SemiBold" panose="02000503040000020004" pitchFamily="2" charset="0"/>
                <a:ea typeface="+mn-ea"/>
                <a:cs typeface="+mn-cs"/>
              </a:rPr>
              <a:t>Vitor da Luz Santos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245032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01FDF-C9BA-3742-31F9-1CEC8667D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46E1EFF-360A-BFA4-F21D-8C6A8A93B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4930D820-CC9D-9287-6184-8B96BDD44C16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D1A74336-2214-2D31-97D8-11CD6161272E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E0156463-DCB2-8B4E-BEBD-7CB6767BC572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E6467872-5B86-97C8-FB3F-6B76D23CB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41FE15BF-3143-0116-00D2-9567506EF481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B1DFA7F-7A1C-7F58-9D08-3EE192373C9F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F2B7D3F-A65D-AABB-1FA8-344637D929FB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AFB26900-DFC4-5165-D3AB-5072ABFD345B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8AAFFCAF-B99B-8FD7-BDBE-51BCCBEC2DDE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1E5CF9EB-4EB5-BD75-6165-89AF05F7CAD3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10C0B200-0439-B30F-6B6C-47D72C64A34A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BC2C795A-02FD-23B4-1338-886C2581BB1E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B0AA8297-00E3-3E7C-8035-28BF5613B048}"/>
              </a:ext>
            </a:extLst>
          </p:cNvPr>
          <p:cNvSpPr txBox="1">
            <a:spLocks/>
          </p:cNvSpPr>
          <p:nvPr/>
        </p:nvSpPr>
        <p:spPr>
          <a:xfrm>
            <a:off x="-5599237" y="65200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9A068282-82ED-0B16-E3E1-4BD4CDC5D718}"/>
              </a:ext>
            </a:extLst>
          </p:cNvPr>
          <p:cNvSpPr txBox="1">
            <a:spLocks/>
          </p:cNvSpPr>
          <p:nvPr/>
        </p:nvSpPr>
        <p:spPr>
          <a:xfrm>
            <a:off x="-5178025" y="4156195"/>
            <a:ext cx="5478179" cy="2495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Amanda Tavares de Oliveira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Lucas Santos Gama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Nicole Miranda Martins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Marina Santos Paixão Ribeiro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Matheus Jacob Duarte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Pedro Ludovic Nascimento Lima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Vitor da Luz Santos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48447A5B-0EBF-6FA7-5104-69FE3F7B9192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F9250D48-CE05-0CA5-2254-53B6E0433010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CDB4B4FB-7546-C46F-8560-AABFAD5A0359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0E232288-3791-58A9-5835-3C66037C4032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D10A0DDC-D82B-5BED-6C62-E0A11FAFC19E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D80449CA-1B20-1040-4979-15B350D6BF58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5DA1171-3C87-AB0B-6E66-D44DF1EA04C1}"/>
              </a:ext>
            </a:extLst>
          </p:cNvPr>
          <p:cNvSpPr/>
          <p:nvPr/>
        </p:nvSpPr>
        <p:spPr>
          <a:xfrm>
            <a:off x="5763221" y="2235825"/>
            <a:ext cx="914400" cy="91440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dirty="0">
                <a:latin typeface="Congenial SemiBold" panose="02000503040000020004" pitchFamily="2" charset="0"/>
              </a:rPr>
              <a:t>01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3CA8A2A-6784-1AB9-779F-ED203EACDAFD}"/>
              </a:ext>
            </a:extLst>
          </p:cNvPr>
          <p:cNvSpPr/>
          <p:nvPr/>
        </p:nvSpPr>
        <p:spPr>
          <a:xfrm>
            <a:off x="1648761" y="2235825"/>
            <a:ext cx="914400" cy="91440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dirty="0">
                <a:latin typeface="Congenial SemiBold" panose="02000503040000020004" pitchFamily="2" charset="0"/>
              </a:rPr>
              <a:t>02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5423DF80-3A87-DD65-7737-40C95FC15A39}"/>
              </a:ext>
            </a:extLst>
          </p:cNvPr>
          <p:cNvSpPr txBox="1">
            <a:spLocks/>
          </p:cNvSpPr>
          <p:nvPr/>
        </p:nvSpPr>
        <p:spPr>
          <a:xfrm>
            <a:off x="1161621" y="3348536"/>
            <a:ext cx="1935137" cy="4236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>
                <a:solidFill>
                  <a:srgbClr val="6B6B6B"/>
                </a:solidFill>
                <a:latin typeface="Congenial SemiBold" panose="020F0502020204030204" pitchFamily="2" charset="0"/>
              </a:rPr>
              <a:t>Desafio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2B24608D-A021-FF69-4EFF-EB4356B8C673}"/>
              </a:ext>
            </a:extLst>
          </p:cNvPr>
          <p:cNvSpPr txBox="1">
            <a:spLocks/>
          </p:cNvSpPr>
          <p:nvPr/>
        </p:nvSpPr>
        <p:spPr>
          <a:xfrm>
            <a:off x="9162178" y="3348535"/>
            <a:ext cx="2093770" cy="4236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>
                <a:solidFill>
                  <a:srgbClr val="6B6B6B"/>
                </a:solidFill>
                <a:latin typeface="Congenial SemiBold" panose="020F0502020204030204" pitchFamily="2" charset="0"/>
              </a:rPr>
              <a:t>Problema</a:t>
            </a: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CC0446DE-2BB4-F4B2-5038-3EE10D5F42EB}"/>
              </a:ext>
            </a:extLst>
          </p:cNvPr>
          <p:cNvSpPr txBox="1">
            <a:spLocks/>
          </p:cNvSpPr>
          <p:nvPr/>
        </p:nvSpPr>
        <p:spPr>
          <a:xfrm>
            <a:off x="3878701" y="4298855"/>
            <a:ext cx="4711316" cy="10777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O transporte e monitoramento de carnes exige controle térmico rigoroso por se tratar de um produto sujeito a normal sanitárias.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B38A7BD-A4BF-AA11-BE75-5EA8A8F875FA}"/>
              </a:ext>
            </a:extLst>
          </p:cNvPr>
          <p:cNvSpPr/>
          <p:nvPr/>
        </p:nvSpPr>
        <p:spPr>
          <a:xfrm>
            <a:off x="9628839" y="2235825"/>
            <a:ext cx="914400" cy="91440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dirty="0">
                <a:latin typeface="Congenial SemiBold" panose="02000503040000020004" pitchFamily="2" charset="0"/>
              </a:rPr>
              <a:t>03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097378F1-56A1-6DBB-9ABE-6A505929FF36}"/>
              </a:ext>
            </a:extLst>
          </p:cNvPr>
          <p:cNvSpPr txBox="1">
            <a:spLocks/>
          </p:cNvSpPr>
          <p:nvPr/>
        </p:nvSpPr>
        <p:spPr>
          <a:xfrm>
            <a:off x="5178885" y="3336357"/>
            <a:ext cx="2110948" cy="4236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>
                <a:solidFill>
                  <a:srgbClr val="6B6B6B"/>
                </a:solidFill>
                <a:latin typeface="Congenial SemiBold" panose="020F0502020204030204" pitchFamily="2" charset="0"/>
              </a:rPr>
              <a:t>Contexto</a:t>
            </a:r>
          </a:p>
        </p:txBody>
      </p:sp>
    </p:spTree>
    <p:extLst>
      <p:ext uri="{BB962C8B-B14F-4D97-AF65-F5344CB8AC3E}">
        <p14:creationId xmlns:p14="http://schemas.microsoft.com/office/powerpoint/2010/main" val="1326711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98EF5-3FD9-1934-2B51-4D69918EF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8A6A1AF-6848-8735-2625-D19BD87F6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DD928887-95CA-4EF0-1B0E-DF69736FF705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C6E8BFE4-FA86-9B84-9CFE-6FC508D80067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2AB18B19-B7F6-F581-5C37-3D20F99E986E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F6C6FB0F-7BDD-CD1F-B0B8-54659AAA9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08F854ED-8261-3C29-6EB1-237D32363438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4C54634-CDC1-F24B-7457-D322A57E41E5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AC86CC5-1D70-B93A-78A1-559F16D20720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A08AD4E2-5EFA-A0CF-48F1-7F55C14248BE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24CDCC96-5750-7AED-15CA-C70B23E7002F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6254AF0-7C21-BD97-9C34-7869CAA0D785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F2149327-2C20-82ED-A54D-792DDDC53DA1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FCB95620-CC12-D7A8-33D2-0AD0A30545F4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E83F1807-BC64-5A10-C3B2-A811637F9843}"/>
              </a:ext>
            </a:extLst>
          </p:cNvPr>
          <p:cNvSpPr txBox="1">
            <a:spLocks/>
          </p:cNvSpPr>
          <p:nvPr/>
        </p:nvSpPr>
        <p:spPr>
          <a:xfrm>
            <a:off x="-5599237" y="65200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A4E03CCB-7269-9826-7DF4-3882F0BC3D7A}"/>
              </a:ext>
            </a:extLst>
          </p:cNvPr>
          <p:cNvSpPr txBox="1">
            <a:spLocks/>
          </p:cNvSpPr>
          <p:nvPr/>
        </p:nvSpPr>
        <p:spPr>
          <a:xfrm>
            <a:off x="-5178025" y="4156195"/>
            <a:ext cx="5478179" cy="2495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Amanda Tavares de Oliveira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Lucas Santos Gama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Nicole Miranda Martins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Marina Santos Paixão Ribeiro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Matheus Jacob Duarte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Pedro Ludovic Nascimento Lima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Vitor da Luz Santos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DE324B7A-8567-746B-02A8-45D5ACEE4729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4A1701AE-47BB-9294-D9D3-9216DDB46984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EFC4C242-C54B-28AB-886B-38604A19C839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B16E7B48-FD56-D330-F107-46484E90630C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C1FEBB0F-33C0-555A-8F66-DFF291265DC5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FA115DB2-ABE8-75D4-1307-95B3E509F9EA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FBCE218-407C-6F7E-BD2E-74DFD25CF33C}"/>
              </a:ext>
            </a:extLst>
          </p:cNvPr>
          <p:cNvSpPr/>
          <p:nvPr/>
        </p:nvSpPr>
        <p:spPr>
          <a:xfrm>
            <a:off x="5763221" y="2235825"/>
            <a:ext cx="914400" cy="91440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dirty="0">
                <a:latin typeface="Congenial SemiBold" panose="02000503040000020004" pitchFamily="2" charset="0"/>
              </a:rPr>
              <a:t>01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F88FC64B-72D8-1FCE-DFCF-34503D80D280}"/>
              </a:ext>
            </a:extLst>
          </p:cNvPr>
          <p:cNvSpPr/>
          <p:nvPr/>
        </p:nvSpPr>
        <p:spPr>
          <a:xfrm>
            <a:off x="5777159" y="2235825"/>
            <a:ext cx="914400" cy="91440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dirty="0">
                <a:latin typeface="Congenial SemiBold" panose="02000503040000020004" pitchFamily="2" charset="0"/>
              </a:rPr>
              <a:t>02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98377460-39E0-B5C2-F3E4-A6615290CCD3}"/>
              </a:ext>
            </a:extLst>
          </p:cNvPr>
          <p:cNvSpPr txBox="1">
            <a:spLocks/>
          </p:cNvSpPr>
          <p:nvPr/>
        </p:nvSpPr>
        <p:spPr>
          <a:xfrm>
            <a:off x="5178885" y="3336357"/>
            <a:ext cx="2110948" cy="4236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>
                <a:solidFill>
                  <a:srgbClr val="6B6B6B"/>
                </a:solidFill>
                <a:latin typeface="Congenial SemiBold" panose="020F0502020204030204" pitchFamily="2" charset="0"/>
              </a:rPr>
              <a:t>Contexto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F233FB50-D1E1-3337-6B85-E4FE3A25EB47}"/>
              </a:ext>
            </a:extLst>
          </p:cNvPr>
          <p:cNvSpPr txBox="1">
            <a:spLocks/>
          </p:cNvSpPr>
          <p:nvPr/>
        </p:nvSpPr>
        <p:spPr>
          <a:xfrm>
            <a:off x="1161621" y="3348536"/>
            <a:ext cx="1935137" cy="4236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>
                <a:solidFill>
                  <a:srgbClr val="6B6B6B"/>
                </a:solidFill>
                <a:latin typeface="Congenial SemiBold" panose="020F0502020204030204" pitchFamily="2" charset="0"/>
              </a:rPr>
              <a:t>Desafio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DA205DC3-C5BE-15A7-E7E9-BDC55D99E8B6}"/>
              </a:ext>
            </a:extLst>
          </p:cNvPr>
          <p:cNvSpPr txBox="1">
            <a:spLocks/>
          </p:cNvSpPr>
          <p:nvPr/>
        </p:nvSpPr>
        <p:spPr>
          <a:xfrm>
            <a:off x="9162178" y="3348535"/>
            <a:ext cx="2093770" cy="4236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>
                <a:solidFill>
                  <a:srgbClr val="6B6B6B"/>
                </a:solidFill>
                <a:latin typeface="Congenial SemiBold" panose="020F0502020204030204" pitchFamily="2" charset="0"/>
              </a:rPr>
              <a:t>Problema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9425F6DB-7AC2-877B-3123-E8D42BEFFB30}"/>
              </a:ext>
            </a:extLst>
          </p:cNvPr>
          <p:cNvSpPr/>
          <p:nvPr/>
        </p:nvSpPr>
        <p:spPr>
          <a:xfrm>
            <a:off x="9628839" y="2235825"/>
            <a:ext cx="914400" cy="91440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dirty="0">
                <a:latin typeface="Congenial SemiBold" panose="02000503040000020004" pitchFamily="2" charset="0"/>
              </a:rPr>
              <a:t>03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B500466-A2A7-C652-8755-952BC29263F2}"/>
              </a:ext>
            </a:extLst>
          </p:cNvPr>
          <p:cNvSpPr txBox="1">
            <a:spLocks/>
          </p:cNvSpPr>
          <p:nvPr/>
        </p:nvSpPr>
        <p:spPr>
          <a:xfrm>
            <a:off x="4006393" y="3722350"/>
            <a:ext cx="4581300" cy="10777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Monitorar continuamente a temperatura durante todo o trajeto até o ponto de venda.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68EBEA1B-C621-E5C3-1776-7B6E4EC56610}"/>
              </a:ext>
            </a:extLst>
          </p:cNvPr>
          <p:cNvSpPr txBox="1">
            <a:spLocks/>
          </p:cNvSpPr>
          <p:nvPr/>
        </p:nvSpPr>
        <p:spPr>
          <a:xfrm>
            <a:off x="3878701" y="4277734"/>
            <a:ext cx="4711316" cy="10777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O transporte e monitoramento de carnes exige controle térmico rigoroso por se tratar de um produto sujeito a normal sanitárias.</a:t>
            </a:r>
          </a:p>
        </p:txBody>
      </p:sp>
    </p:spTree>
    <p:extLst>
      <p:ext uri="{BB962C8B-B14F-4D97-AF65-F5344CB8AC3E}">
        <p14:creationId xmlns:p14="http://schemas.microsoft.com/office/powerpoint/2010/main" val="4201828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48148E-6 L 0.33685 -0.00231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36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3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A85FC-1DF2-5CA9-E0E4-62A9AB32D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37FB279-F46C-A4A8-4100-8D403C742F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6E825D2-FE78-99E9-FBA1-0539093E5120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6300A98A-5F28-7895-9BA3-DD9C00F52C64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93244142-9475-C36E-72C4-FEF71AAD38FA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7FBBAC38-2242-8ED2-B527-439E91D27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A50642B4-FC93-F581-1753-283408E78C80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8DEA5F3-71FB-836A-D078-E3B776D13BFB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FC09E7B-AEAC-E20C-66EA-26752BC934B2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09F1C7D-95EE-8933-32B8-0DF7C7E28FC3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131A74EA-A215-B33B-3D0F-6FCC0E830AF0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0F503378-B1FB-78C9-8080-E9A5462CB262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E882840-7817-F64C-9EAC-8B1DFCDF75E4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EA35A17F-C427-9634-2403-51516090CDAE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74CA981B-4B52-F61C-8A8B-CC725CB2A690}"/>
              </a:ext>
            </a:extLst>
          </p:cNvPr>
          <p:cNvSpPr txBox="1">
            <a:spLocks/>
          </p:cNvSpPr>
          <p:nvPr/>
        </p:nvSpPr>
        <p:spPr>
          <a:xfrm>
            <a:off x="-5599237" y="65200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67BAFB8C-BBB1-19EE-34CA-5A75879050FE}"/>
              </a:ext>
            </a:extLst>
          </p:cNvPr>
          <p:cNvSpPr txBox="1">
            <a:spLocks/>
          </p:cNvSpPr>
          <p:nvPr/>
        </p:nvSpPr>
        <p:spPr>
          <a:xfrm>
            <a:off x="-5178025" y="4156195"/>
            <a:ext cx="5478179" cy="2495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Amanda Tavares de Oliveira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Lucas Santos Gama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Nicole Miranda Martins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Marina Santos Paixão Ribeiro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Matheus Jacob Duarte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Pedro Ludovic Nascimento Lima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Vitor da Luz Santos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99021CA0-6055-7BDD-57F8-ACD150CCA969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30FEA2F1-231C-685B-B98B-5CAD7F5EEA4F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08F7A857-63C1-4CD4-8524-CF5FCC942B24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AAD6B4DA-F4BA-78B8-D602-951B03E0AADE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483FB70C-493C-9F03-ED07-C6283B03E993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3435F7C9-ABAB-E544-8293-8712B7B4D7B4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8E7E0E2-65E1-314D-EF1E-ACF143278924}"/>
              </a:ext>
            </a:extLst>
          </p:cNvPr>
          <p:cNvSpPr/>
          <p:nvPr/>
        </p:nvSpPr>
        <p:spPr>
          <a:xfrm>
            <a:off x="5763221" y="2235825"/>
            <a:ext cx="914400" cy="91440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dirty="0">
                <a:latin typeface="Congenial SemiBold" panose="02000503040000020004" pitchFamily="2" charset="0"/>
              </a:rPr>
              <a:t>01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A8737E6-443B-40AC-678F-87BC844D2BC5}"/>
              </a:ext>
            </a:extLst>
          </p:cNvPr>
          <p:cNvSpPr/>
          <p:nvPr/>
        </p:nvSpPr>
        <p:spPr>
          <a:xfrm>
            <a:off x="5777159" y="2235825"/>
            <a:ext cx="914400" cy="91440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dirty="0">
                <a:latin typeface="Congenial SemiBold" panose="02000503040000020004" pitchFamily="2" charset="0"/>
              </a:rPr>
              <a:t>02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4589A014-3A51-5DC5-7725-D86486DA3C90}"/>
              </a:ext>
            </a:extLst>
          </p:cNvPr>
          <p:cNvSpPr txBox="1">
            <a:spLocks/>
          </p:cNvSpPr>
          <p:nvPr/>
        </p:nvSpPr>
        <p:spPr>
          <a:xfrm>
            <a:off x="9162178" y="3348535"/>
            <a:ext cx="2093770" cy="4236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>
                <a:solidFill>
                  <a:srgbClr val="6B6B6B"/>
                </a:solidFill>
                <a:latin typeface="Congenial SemiBold" panose="020F0502020204030204" pitchFamily="2" charset="0"/>
              </a:rPr>
              <a:t>Problema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DA1D10EF-4299-D3B1-EF86-77F51E541D07}"/>
              </a:ext>
            </a:extLst>
          </p:cNvPr>
          <p:cNvSpPr/>
          <p:nvPr/>
        </p:nvSpPr>
        <p:spPr>
          <a:xfrm>
            <a:off x="5777159" y="2235825"/>
            <a:ext cx="914400" cy="91440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dirty="0">
                <a:latin typeface="Congenial SemiBold" panose="02000503040000020004" pitchFamily="2" charset="0"/>
              </a:rPr>
              <a:t>03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3E9305B4-8B95-8FE9-6D04-2D9BE19FC0FC}"/>
              </a:ext>
            </a:extLst>
          </p:cNvPr>
          <p:cNvSpPr txBox="1">
            <a:spLocks/>
          </p:cNvSpPr>
          <p:nvPr/>
        </p:nvSpPr>
        <p:spPr>
          <a:xfrm>
            <a:off x="4010738" y="3728743"/>
            <a:ext cx="4447239" cy="10777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 falta de controle pode gerar deterioração, prejuízos financeiros e riscos à saúde.</a:t>
            </a: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412181C9-796D-C7A6-3E09-82AE9E950FFE}"/>
              </a:ext>
            </a:extLst>
          </p:cNvPr>
          <p:cNvSpPr txBox="1">
            <a:spLocks/>
          </p:cNvSpPr>
          <p:nvPr/>
        </p:nvSpPr>
        <p:spPr>
          <a:xfrm>
            <a:off x="5266790" y="3348535"/>
            <a:ext cx="1935137" cy="4236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>
                <a:solidFill>
                  <a:srgbClr val="6B6B6B"/>
                </a:solidFill>
                <a:latin typeface="Congenial SemiBold" panose="020F0502020204030204" pitchFamily="2" charset="0"/>
              </a:rPr>
              <a:t>Desafio</a:t>
            </a:r>
          </a:p>
        </p:txBody>
      </p:sp>
    </p:spTree>
    <p:extLst>
      <p:ext uri="{BB962C8B-B14F-4D97-AF65-F5344CB8AC3E}">
        <p14:creationId xmlns:p14="http://schemas.microsoft.com/office/powerpoint/2010/main" val="2683869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1.48148E-6 L -0.32161 -0.0032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81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55EB-5528-A6FC-3776-B98FE5E78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Phone call - Free people icons">
            <a:extLst>
              <a:ext uri="{FF2B5EF4-FFF2-40B4-BE49-F238E27FC236}">
                <a16:creationId xmlns:a16="http://schemas.microsoft.com/office/drawing/2014/main" id="{F884635E-A82A-F1D5-F896-7C5638F3F5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6"/>
          <a:stretch>
            <a:fillRect/>
          </a:stretch>
        </p:blipFill>
        <p:spPr bwMode="auto">
          <a:xfrm>
            <a:off x="4990355" y="2648606"/>
            <a:ext cx="567385" cy="1178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A05D2134-2AC1-77F0-08D7-F0D0DBE44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BCA8870-CC3B-D9C1-B3F0-BAF524F549F5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640BDD59-4551-1722-486D-22E78A14D9E7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2CF64DAF-BC61-8DA3-499E-E758A1EC014F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5B95928E-AEFF-9DD4-71BA-1D69E337B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A0AD5E18-49B5-A287-A23A-57A5E52B9076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7832215-C826-A740-C411-80CB16DA29DC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C463EBB-36EC-5BDA-868A-6AA5163371F5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3A919BE5-FC0A-106E-185F-DFD247922FEF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08FB1129-A3C4-72BA-322D-1CE3D86251F7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57CDD642-A349-5636-6499-8900F5D25572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8DAEF59-CC4F-897C-B9F2-8655DFB52851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A0DC35A0-2E3B-6DF6-398B-175EFB1585F8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F4F29248-9BCB-E0AC-3E2E-7DF435892D37}"/>
              </a:ext>
            </a:extLst>
          </p:cNvPr>
          <p:cNvSpPr txBox="1">
            <a:spLocks/>
          </p:cNvSpPr>
          <p:nvPr/>
        </p:nvSpPr>
        <p:spPr>
          <a:xfrm>
            <a:off x="-5599237" y="65200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3BB108C6-43D8-CF1F-52A1-979851A21B7B}"/>
              </a:ext>
            </a:extLst>
          </p:cNvPr>
          <p:cNvSpPr txBox="1">
            <a:spLocks/>
          </p:cNvSpPr>
          <p:nvPr/>
        </p:nvSpPr>
        <p:spPr>
          <a:xfrm>
            <a:off x="-5178025" y="4156195"/>
            <a:ext cx="5478179" cy="2495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Amanda Tavares de Oliveira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Lucas Santos Gama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Nicole Miranda Martins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Marina Santos Paixão Ribeiro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Matheus Jacob Duarte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Pedro Ludovic Nascimento Lima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Vitor da Luz Santos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9E7E9F93-1B78-21F5-57D9-B68704EC8546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89026F04-0941-A71E-72CA-BC9785791541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6ED14D76-BA2C-ECFA-4BD9-4770DDF31678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5864F2BD-1F85-0558-C026-EA704D2ABD1F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7E168ECE-BF39-2261-8395-182F456207CE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F3416330-903A-3DDC-9984-848D34578A99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B472926F-7C43-419B-0817-68967D8EE7D2}"/>
              </a:ext>
            </a:extLst>
          </p:cNvPr>
          <p:cNvSpPr txBox="1">
            <a:spLocks/>
          </p:cNvSpPr>
          <p:nvPr/>
        </p:nvSpPr>
        <p:spPr>
          <a:xfrm>
            <a:off x="362825" y="1372732"/>
            <a:ext cx="3942476" cy="6973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000" dirty="0">
                <a:solidFill>
                  <a:srgbClr val="6B6B6B"/>
                </a:solidFill>
                <a:latin typeface="Congenial SemiBold" panose="020F0502020204030204" pitchFamily="2" charset="0"/>
              </a:rPr>
              <a:t>Nossa proposta</a:t>
            </a:r>
          </a:p>
        </p:txBody>
      </p:sp>
      <p:pic>
        <p:nvPicPr>
          <p:cNvPr id="1026" name="Picture 2" descr="Overview of Cold Trucks - Cool Guys">
            <a:extLst>
              <a:ext uri="{FF2B5EF4-FFF2-40B4-BE49-F238E27FC236}">
                <a16:creationId xmlns:a16="http://schemas.microsoft.com/office/drawing/2014/main" id="{3DD7E426-DF2A-73C6-6CAA-2719D6FDB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24" y="2643503"/>
            <a:ext cx="1841344" cy="1654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reezer - Free electronics icons">
            <a:extLst>
              <a:ext uri="{FF2B5EF4-FFF2-40B4-BE49-F238E27FC236}">
                <a16:creationId xmlns:a16="http://schemas.microsoft.com/office/drawing/2014/main" id="{C4B66BA8-6A47-9435-4D3C-53CD0703D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24" y="2537473"/>
            <a:ext cx="1783054" cy="1783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upermarket - Free commerce icons">
            <a:extLst>
              <a:ext uri="{FF2B5EF4-FFF2-40B4-BE49-F238E27FC236}">
                <a16:creationId xmlns:a16="http://schemas.microsoft.com/office/drawing/2014/main" id="{92C10A29-B14E-4EA3-4493-9BE87EC18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7832" y="2508328"/>
            <a:ext cx="1841344" cy="184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42908A7E-5728-DB4A-D4A6-EFE8FADF202F}"/>
              </a:ext>
            </a:extLst>
          </p:cNvPr>
          <p:cNvSpPr/>
          <p:nvPr/>
        </p:nvSpPr>
        <p:spPr>
          <a:xfrm>
            <a:off x="-1251646" y="2235825"/>
            <a:ext cx="914400" cy="91440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dirty="0">
                <a:latin typeface="Congenial SemiBold" panose="02000503040000020004" pitchFamily="2" charset="0"/>
              </a:rPr>
              <a:t>01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230A930-63C8-2E45-4098-55B798F7A9B1}"/>
              </a:ext>
            </a:extLst>
          </p:cNvPr>
          <p:cNvSpPr/>
          <p:nvPr/>
        </p:nvSpPr>
        <p:spPr>
          <a:xfrm>
            <a:off x="12889159" y="2337425"/>
            <a:ext cx="914400" cy="91440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dirty="0">
                <a:latin typeface="Congenial SemiBold" panose="02000503040000020004" pitchFamily="2" charset="0"/>
              </a:rPr>
              <a:t>02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A04649F-F521-F86E-B1E1-179D159CDC44}"/>
              </a:ext>
            </a:extLst>
          </p:cNvPr>
          <p:cNvSpPr/>
          <p:nvPr/>
        </p:nvSpPr>
        <p:spPr>
          <a:xfrm>
            <a:off x="5623588" y="-1752115"/>
            <a:ext cx="914400" cy="91440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dirty="0">
                <a:latin typeface="Congenial SemiBold" panose="02000503040000020004" pitchFamily="2" charset="0"/>
              </a:rPr>
              <a:t>03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629A07D8-27BC-89C5-B4C8-D72F8A49183E}"/>
              </a:ext>
            </a:extLst>
          </p:cNvPr>
          <p:cNvSpPr txBox="1">
            <a:spLocks/>
          </p:cNvSpPr>
          <p:nvPr/>
        </p:nvSpPr>
        <p:spPr>
          <a:xfrm>
            <a:off x="4057723" y="7902678"/>
            <a:ext cx="4447239" cy="10777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 falta de controle pode gerar deterioração, prejuízos financeiros e riscos à saúde.</a:t>
            </a:r>
          </a:p>
        </p:txBody>
      </p:sp>
      <p:pic>
        <p:nvPicPr>
          <p:cNvPr id="2050" name="Picture 2" descr="Wifi signal Basic Rounded Lineal icon | Freepik">
            <a:extLst>
              <a:ext uri="{FF2B5EF4-FFF2-40B4-BE49-F238E27FC236}">
                <a16:creationId xmlns:a16="http://schemas.microsoft.com/office/drawing/2014/main" id="{7455D8BA-1F42-C83A-C31A-935CDF423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54344">
            <a:off x="6273859" y="2408780"/>
            <a:ext cx="771689" cy="771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Agrupar 25">
            <a:extLst>
              <a:ext uri="{FF2B5EF4-FFF2-40B4-BE49-F238E27FC236}">
                <a16:creationId xmlns:a16="http://schemas.microsoft.com/office/drawing/2014/main" id="{8D1A4075-9F81-299A-F269-EC6EE383A278}"/>
              </a:ext>
            </a:extLst>
          </p:cNvPr>
          <p:cNvGrpSpPr/>
          <p:nvPr/>
        </p:nvGrpSpPr>
        <p:grpSpPr>
          <a:xfrm>
            <a:off x="4305301" y="3150225"/>
            <a:ext cx="1076660" cy="794443"/>
            <a:chOff x="3896724" y="4345223"/>
            <a:chExt cx="1516480" cy="1118976"/>
          </a:xfrm>
        </p:grpSpPr>
        <p:pic>
          <p:nvPicPr>
            <p:cNvPr id="24" name="Picture 4" descr="Box - free Icon PNG, SVG">
              <a:extLst>
                <a:ext uri="{FF2B5EF4-FFF2-40B4-BE49-F238E27FC236}">
                  <a16:creationId xmlns:a16="http://schemas.microsoft.com/office/drawing/2014/main" id="{9F7BE253-6184-882D-3999-1F3751CC28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243605" y="4345223"/>
              <a:ext cx="822718" cy="822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Box - free Icon PNG, SVG">
              <a:extLst>
                <a:ext uri="{FF2B5EF4-FFF2-40B4-BE49-F238E27FC236}">
                  <a16:creationId xmlns:a16="http://schemas.microsoft.com/office/drawing/2014/main" id="{77BE5AEA-5DD1-168E-2133-B5FCCD451D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0486" y="4632960"/>
              <a:ext cx="822718" cy="822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4" descr="Box - free Icon PNG, SVG">
              <a:extLst>
                <a:ext uri="{FF2B5EF4-FFF2-40B4-BE49-F238E27FC236}">
                  <a16:creationId xmlns:a16="http://schemas.microsoft.com/office/drawing/2014/main" id="{89B036DE-5320-C385-7636-E9AE53CE08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6724" y="4641481"/>
              <a:ext cx="822718" cy="8227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6" name="Picture 8" descr="Free Check SVG, PNG Icon, Symbol. Download Image.">
            <a:extLst>
              <a:ext uri="{FF2B5EF4-FFF2-40B4-BE49-F238E27FC236}">
                <a16:creationId xmlns:a16="http://schemas.microsoft.com/office/drawing/2014/main" id="{4BE9C1F4-D44E-E578-8D0F-9A832A744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88589">
            <a:off x="10407744" y="1481301"/>
            <a:ext cx="989682" cy="98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078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48148E-6 L 0.38945 -0.0060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66" y="-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50"/>
                            </p:stCondLst>
                            <p:childTnLst>
                              <p:par>
                                <p:cTn id="18" presetID="32" presetClass="emph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xit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25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75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500"/>
                            </p:stCondLst>
                            <p:childTnLst>
                              <p:par>
                                <p:cTn id="39" presetID="42" presetClass="path" presetSubtype="0" accel="50000" decel="5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38945 -0.00602 L 0.78932 -0.00602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98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750"/>
                            </p:stCondLst>
                            <p:childTnLst>
                              <p:par>
                                <p:cTn id="42" presetID="3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C20E2-38CC-6CA1-F128-167F59CAF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00C62F5-2C3E-BF0C-749D-F07794361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B38A4F89-FD9A-CF77-97E7-9CA03DA5F990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3E679953-B2C9-C65F-5680-C3B78FE6BBCD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38193284-68EE-CF57-68D5-FBD5352B9AD5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A0D43B9C-3851-4797-6CFF-A7AF2B080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C223AE34-DDB8-FF82-60D7-B2CE0EBA8943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02DA8C1-FF5B-00F6-0B30-199B7B25B97B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ABE8EF8-5ED8-F8C8-FCA1-D5EB2378FE73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AC571616-C706-5C29-A142-8CBFBE53A606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5C4E3501-2566-84D6-EA9F-AE7A3F529F41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E15DAB70-FFB9-EDFC-F194-3C464F68379C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50FE9356-C407-9823-6E01-EE350EE990E7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64E43278-4A98-BC90-9D2A-606D3EBA91E5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FF8D88D6-0557-DF56-3FC9-862151A64F39}"/>
              </a:ext>
            </a:extLst>
          </p:cNvPr>
          <p:cNvSpPr txBox="1">
            <a:spLocks/>
          </p:cNvSpPr>
          <p:nvPr/>
        </p:nvSpPr>
        <p:spPr>
          <a:xfrm>
            <a:off x="-5599237" y="65200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55AA006F-F6FA-B54E-43F2-B4677404F689}"/>
              </a:ext>
            </a:extLst>
          </p:cNvPr>
          <p:cNvSpPr txBox="1">
            <a:spLocks/>
          </p:cNvSpPr>
          <p:nvPr/>
        </p:nvSpPr>
        <p:spPr>
          <a:xfrm>
            <a:off x="-5178025" y="4156195"/>
            <a:ext cx="5478179" cy="2495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Amanda Tavares de Oliveira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Lucas Santos Gama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Nicole Miranda Martins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Marina Santos Paixão Ribeiro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Matheus Jacob Duarte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Pedro Ludovic Nascimento Lima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Vitor da Luz Santos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0BD317F5-6C0D-28EC-414D-2D106506474D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AC50C9FC-1970-BBA8-71C0-C733AFB77F3D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A7FC8470-534D-88D1-D67A-D8F7C80FBD85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03FE7873-1432-54CC-660C-1DEC4B2EF2F6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DFA0D71E-A374-6F74-E9DE-4E252501025F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A1ACEBF6-E7D0-06F4-19DB-03E35C9F8204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51E705EB-D42E-98EC-E84C-117F30588C5F}"/>
              </a:ext>
            </a:extLst>
          </p:cNvPr>
          <p:cNvSpPr txBox="1">
            <a:spLocks/>
          </p:cNvSpPr>
          <p:nvPr/>
        </p:nvSpPr>
        <p:spPr>
          <a:xfrm>
            <a:off x="362825" y="1372732"/>
            <a:ext cx="3942476" cy="6973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000" dirty="0">
                <a:solidFill>
                  <a:srgbClr val="6B6B6B"/>
                </a:solidFill>
                <a:latin typeface="Congenial SemiBold" panose="020F0502020204030204" pitchFamily="2" charset="0"/>
              </a:rPr>
              <a:t>Nossa proposta</a:t>
            </a:r>
          </a:p>
        </p:txBody>
      </p:sp>
      <p:pic>
        <p:nvPicPr>
          <p:cNvPr id="1028" name="Picture 4" descr="Freezer - Free electronics icons">
            <a:extLst>
              <a:ext uri="{FF2B5EF4-FFF2-40B4-BE49-F238E27FC236}">
                <a16:creationId xmlns:a16="http://schemas.microsoft.com/office/drawing/2014/main" id="{B5050316-9A79-8C07-8B01-DC165402B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4840">
            <a:off x="-2577500" y="2441975"/>
            <a:ext cx="1783054" cy="1783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upermarket - Free commerce icons">
            <a:extLst>
              <a:ext uri="{FF2B5EF4-FFF2-40B4-BE49-F238E27FC236}">
                <a16:creationId xmlns:a16="http://schemas.microsoft.com/office/drawing/2014/main" id="{D66DFDD2-4420-2FEA-E28F-1CC61D14D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942081">
            <a:off x="12882887" y="2229554"/>
            <a:ext cx="1841344" cy="184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D8D79D14-DBFD-AD47-0E08-B987E84C935B}"/>
              </a:ext>
            </a:extLst>
          </p:cNvPr>
          <p:cNvSpPr/>
          <p:nvPr/>
        </p:nvSpPr>
        <p:spPr>
          <a:xfrm>
            <a:off x="-1251646" y="2235825"/>
            <a:ext cx="914400" cy="91440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dirty="0">
                <a:latin typeface="Congenial SemiBold" panose="02000503040000020004" pitchFamily="2" charset="0"/>
              </a:rPr>
              <a:t>01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F281DE41-61F9-F942-8366-DA165C0D5610}"/>
              </a:ext>
            </a:extLst>
          </p:cNvPr>
          <p:cNvSpPr/>
          <p:nvPr/>
        </p:nvSpPr>
        <p:spPr>
          <a:xfrm>
            <a:off x="12889159" y="2337425"/>
            <a:ext cx="914400" cy="91440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dirty="0">
                <a:latin typeface="Congenial SemiBold" panose="02000503040000020004" pitchFamily="2" charset="0"/>
              </a:rPr>
              <a:t>02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AE7F94D2-68CA-44AD-F707-011B2401A62B}"/>
              </a:ext>
            </a:extLst>
          </p:cNvPr>
          <p:cNvSpPr/>
          <p:nvPr/>
        </p:nvSpPr>
        <p:spPr>
          <a:xfrm>
            <a:off x="5623588" y="-1752115"/>
            <a:ext cx="914400" cy="91440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000" dirty="0">
                <a:latin typeface="Congenial SemiBold" panose="02000503040000020004" pitchFamily="2" charset="0"/>
              </a:rPr>
              <a:t>03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8DBFEE2D-C5E7-3F6F-6520-F490618FA99F}"/>
              </a:ext>
            </a:extLst>
          </p:cNvPr>
          <p:cNvSpPr txBox="1">
            <a:spLocks/>
          </p:cNvSpPr>
          <p:nvPr/>
        </p:nvSpPr>
        <p:spPr>
          <a:xfrm>
            <a:off x="4057723" y="7902678"/>
            <a:ext cx="4447239" cy="10777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 falta de controle pode gerar deterioração, prejuízos financeiros e riscos à saúde.</a:t>
            </a:r>
          </a:p>
        </p:txBody>
      </p:sp>
      <p:pic>
        <p:nvPicPr>
          <p:cNvPr id="2056" name="Picture 8" descr="Free Check SVG, PNG Icon, Symbol. Download Image.">
            <a:extLst>
              <a:ext uri="{FF2B5EF4-FFF2-40B4-BE49-F238E27FC236}">
                <a16:creationId xmlns:a16="http://schemas.microsoft.com/office/drawing/2014/main" id="{91E546DE-4068-F956-F233-D9D5D8FDA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104196">
            <a:off x="12673496" y="1168858"/>
            <a:ext cx="989682" cy="98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BC9C4A2D-153F-01DE-2E45-D115B3898E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7080" y="1932263"/>
            <a:ext cx="7477839" cy="418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19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1D5C0-27B6-1DBF-66C7-A873DA623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DB163F9-0A90-7EAA-F1DE-535AAF5EB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A3ED4E28-5510-9FA3-4F26-6CDCEFA7522A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CB3EECB7-FEF6-2E3F-309F-BB22E2EF2D6D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09F4F15B-DFCD-FBBA-D98F-DBBBBD74DD6C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0A83A0C8-D77F-7F5A-F650-F7AC5700C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F382A087-1EFF-EB9B-D9A9-1FB128BD6522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7685009D-BE73-6F6A-8882-2B3975A85CBA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11184B3-300B-EAD9-A5F8-A9756B052972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A432D30E-7031-E995-8E60-097955B3C984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198A80BE-B7E2-33A4-1A62-C0449278E1A8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EAC7017-9E14-DC49-EBF2-2CA482611339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D4087162-9A39-7AB6-55F3-28C44FBF5E03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234744A5-2CB5-85CD-9C98-40893AE651F5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DA870385-4332-8FD6-7530-0033A447DF35}"/>
              </a:ext>
            </a:extLst>
          </p:cNvPr>
          <p:cNvSpPr txBox="1">
            <a:spLocks/>
          </p:cNvSpPr>
          <p:nvPr/>
        </p:nvSpPr>
        <p:spPr>
          <a:xfrm>
            <a:off x="-5599237" y="65200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C312FB20-5134-879C-E94A-A15C9CEFB5AF}"/>
              </a:ext>
            </a:extLst>
          </p:cNvPr>
          <p:cNvSpPr txBox="1">
            <a:spLocks/>
          </p:cNvSpPr>
          <p:nvPr/>
        </p:nvSpPr>
        <p:spPr>
          <a:xfrm>
            <a:off x="-5178025" y="4156195"/>
            <a:ext cx="5478179" cy="2495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Amanda Tavares de Oliveira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Lucas Santos Gama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Nicole Miranda Martins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Marina Santos Paixão Ribeiro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Matheus Jacob Duarte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Pedro Ludovic Nascimento Lima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Vitor da Luz Santos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E31E677D-B7C8-23A0-EFEF-09F0BC37494B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7CCDDD8F-54A2-943E-E4BC-17909DF4DB79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F68EC62B-6578-E68B-099B-9060FC3EFE65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7EF0F9A2-91CE-A4C6-35BF-EBF8E30AE175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EDF3F69B-6256-060A-7942-8839869C2336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593BDC77-B61B-7CAF-9129-5FD8EE428245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8459D6C9-DBF7-7E59-20B1-E9DE1DE247E5}"/>
              </a:ext>
            </a:extLst>
          </p:cNvPr>
          <p:cNvSpPr txBox="1">
            <a:spLocks/>
          </p:cNvSpPr>
          <p:nvPr/>
        </p:nvSpPr>
        <p:spPr>
          <a:xfrm>
            <a:off x="362824" y="1372732"/>
            <a:ext cx="6730271" cy="6846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000" dirty="0">
                <a:solidFill>
                  <a:srgbClr val="6B6B6B"/>
                </a:solidFill>
                <a:latin typeface="Congenial SemiBold" panose="020F0502020204030204" pitchFamily="2" charset="0"/>
              </a:rPr>
              <a:t>Como nos organizamos</a:t>
            </a:r>
          </a:p>
        </p:txBody>
      </p:sp>
    </p:spTree>
    <p:extLst>
      <p:ext uri="{BB962C8B-B14F-4D97-AF65-F5344CB8AC3E}">
        <p14:creationId xmlns:p14="http://schemas.microsoft.com/office/powerpoint/2010/main" val="233246250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6D7B7-CAD8-7B60-A5E1-AEA1097F2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9C8313D-B8EC-8BCD-C648-CDBF4D60A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C543755-BE92-79CF-AC76-3F718CA97E4C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A35352D4-601B-D5AB-F327-4F1241FF6DE6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FD30A9DA-1953-9B8E-73A2-204F2AA891CB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6F42B266-CB62-9B24-E19B-812CE37E0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5A68AA22-4D6C-2A12-D495-3F98AAD8C6A8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EDA447B-24C6-4E50-C4D4-4C513F7C8431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E8398AD-3E39-2EB0-1770-B7940F744F37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64FD3D32-0F38-3520-25E8-0EA19BAF9BF4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7740ABFD-88C1-40B4-1C12-9224CA8CFEB0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04DCB308-DC9C-822F-198F-8D00D51E98EE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0B5CACA-94BE-435A-FD42-4E354562AC3E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B44AB926-7090-DEA7-053D-C1D4135B0D9C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E7C3D878-2F9C-75A5-0E4E-21FDEC2BB01D}"/>
              </a:ext>
            </a:extLst>
          </p:cNvPr>
          <p:cNvSpPr txBox="1">
            <a:spLocks/>
          </p:cNvSpPr>
          <p:nvPr/>
        </p:nvSpPr>
        <p:spPr>
          <a:xfrm>
            <a:off x="-5599237" y="65200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54563CE6-5FFD-6ED0-3FD6-AAF8BAE55EE9}"/>
              </a:ext>
            </a:extLst>
          </p:cNvPr>
          <p:cNvSpPr txBox="1">
            <a:spLocks/>
          </p:cNvSpPr>
          <p:nvPr/>
        </p:nvSpPr>
        <p:spPr>
          <a:xfrm>
            <a:off x="-5178025" y="4156195"/>
            <a:ext cx="5478179" cy="2495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Amanda Tavares de Oliveira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Lucas Santos Gama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Nicole Miranda Martins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Marina Santos Paixão Ribeiro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Matheus Jacob Duarte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Pedro Ludovic Nascimento Lima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Vitor da Luz Santos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8889C2EE-F1D9-369F-71B5-A7CB5BE4B61C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FB468B2E-D7F1-6D2E-7628-8D108DAB0A96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F85EB05C-C94C-D826-ED0F-D6F2EA6DE221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59CB4F20-318A-07BA-FA3C-C253ABB46EAA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FC0563CA-0B6B-EE5B-AF31-650C057B7717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CED43217-44B6-19FA-C4C1-21617DAC221C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1D70A2AF-DF8A-F6C8-5DB6-706D82668ABC}"/>
              </a:ext>
            </a:extLst>
          </p:cNvPr>
          <p:cNvSpPr txBox="1">
            <a:spLocks/>
          </p:cNvSpPr>
          <p:nvPr/>
        </p:nvSpPr>
        <p:spPr>
          <a:xfrm>
            <a:off x="362824" y="1372732"/>
            <a:ext cx="6730271" cy="6846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000" dirty="0">
                <a:solidFill>
                  <a:srgbClr val="6B6B6B"/>
                </a:solidFill>
                <a:latin typeface="Congenial SemiBold" panose="020F0502020204030204" pitchFamily="2" charset="0"/>
              </a:rPr>
              <a:t>Como nos organizamos</a:t>
            </a:r>
          </a:p>
        </p:txBody>
      </p:sp>
      <p:pic>
        <p:nvPicPr>
          <p:cNvPr id="4098" name="Picture 2" descr="Trello - Transferência e instalação gratuitas no Windows | Microsoft Store">
            <a:extLst>
              <a:ext uri="{FF2B5EF4-FFF2-40B4-BE49-F238E27FC236}">
                <a16:creationId xmlns:a16="http://schemas.microsoft.com/office/drawing/2014/main" id="{2ED93873-E18C-3197-3297-6BFD9426A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105" y="850981"/>
            <a:ext cx="5231460" cy="523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D9C4BBE-642D-25CD-1CFF-E674C3912FF6}"/>
              </a:ext>
            </a:extLst>
          </p:cNvPr>
          <p:cNvSpPr txBox="1">
            <a:spLocks/>
          </p:cNvSpPr>
          <p:nvPr/>
        </p:nvSpPr>
        <p:spPr>
          <a:xfrm>
            <a:off x="4039556" y="4115933"/>
            <a:ext cx="6889601" cy="6846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dirty="0">
                <a:solidFill>
                  <a:srgbClr val="6B6B6B"/>
                </a:solidFill>
                <a:latin typeface="Congenial SemiBold" panose="020F0502020204030204" pitchFamily="2" charset="0"/>
              </a:rPr>
              <a:t>Utilizamos o </a:t>
            </a:r>
            <a:r>
              <a:rPr lang="pt-BR" sz="2800" dirty="0" err="1">
                <a:solidFill>
                  <a:srgbClr val="6B6B6B"/>
                </a:solidFill>
                <a:latin typeface="Congenial SemiBold" panose="020F0502020204030204" pitchFamily="2" charset="0"/>
              </a:rPr>
              <a:t>Trello</a:t>
            </a:r>
            <a:r>
              <a:rPr lang="pt-BR" sz="2800" dirty="0">
                <a:solidFill>
                  <a:srgbClr val="6B6B6B"/>
                </a:solidFill>
                <a:latin typeface="Congenial SemiBold" panose="020F0502020204030204" pitchFamily="2" charset="0"/>
              </a:rPr>
              <a:t> como ferramenta de organização do projeto, estruturando tarefas, prazos e prioridades.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B5E9B896-7FA0-F2B6-650B-C01CCEDF5FCE}"/>
              </a:ext>
            </a:extLst>
          </p:cNvPr>
          <p:cNvCxnSpPr>
            <a:cxnSpLocks/>
          </p:cNvCxnSpPr>
          <p:nvPr/>
        </p:nvCxnSpPr>
        <p:spPr>
          <a:xfrm>
            <a:off x="4179257" y="3383184"/>
            <a:ext cx="5969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Trello - Produtivamente">
            <a:extLst>
              <a:ext uri="{FF2B5EF4-FFF2-40B4-BE49-F238E27FC236}">
                <a16:creationId xmlns:a16="http://schemas.microsoft.com/office/drawing/2014/main" id="{E646832C-3CA6-23F0-A98A-12821D346C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33"/>
          <a:stretch>
            <a:fillRect/>
          </a:stretch>
        </p:blipFill>
        <p:spPr bwMode="auto">
          <a:xfrm>
            <a:off x="4179257" y="1672798"/>
            <a:ext cx="2943265" cy="231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621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148F-58C5-E6E7-6B22-9A4FE24AB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551340D-7E42-9389-0B46-3BC82F08B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1DEE049-A7A8-046A-3ABF-BB53C7031212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AE58BD3E-FDAC-6CC5-DAE2-A8E7AB9B6A10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D6F5372A-C858-AF45-072A-5F54F3341278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E7A7908F-B844-1C7D-B30C-4BDF16E36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28EEE4D8-1446-D004-7821-76173C8DEE1F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F0AA9A9-6B14-F939-3489-1F89696FB395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BD60675-9E3D-9982-8853-6D694777B7A1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07EF1B9A-C50B-E36A-7271-A1C3A43F713A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5BBF6A87-8524-4E94-6C65-488B54FE054D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28B11CC8-FAB5-87EA-75A5-1FBD50751B8E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2F71DB64-734C-432A-1855-CB79C956945A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B1E17586-18EC-8C4F-A1C6-E21CBCC61EA5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3C6A5979-00BB-7033-C32E-805386F5BB89}"/>
              </a:ext>
            </a:extLst>
          </p:cNvPr>
          <p:cNvSpPr txBox="1">
            <a:spLocks/>
          </p:cNvSpPr>
          <p:nvPr/>
        </p:nvSpPr>
        <p:spPr>
          <a:xfrm>
            <a:off x="-5599237" y="65200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E790A413-F15A-540E-4220-6B486F4D38C0}"/>
              </a:ext>
            </a:extLst>
          </p:cNvPr>
          <p:cNvSpPr txBox="1">
            <a:spLocks/>
          </p:cNvSpPr>
          <p:nvPr/>
        </p:nvSpPr>
        <p:spPr>
          <a:xfrm>
            <a:off x="-5178025" y="4156195"/>
            <a:ext cx="5478179" cy="2495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Amanda Tavares de Oliveira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Lucas Santos Gama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Nicole Miranda Martins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Marina Santos Paixão Ribeiro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Matheus Jacob Duarte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Pedro Ludovic Nascimento Lima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Vitor da Luz Santos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6FA6657B-7C25-87B3-F867-9E40FBFF1ECB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FEAB9D9C-46B4-91A5-D81D-6C6E0B078762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1055B75C-F2DE-7184-9B63-AAF2DB5B1581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9998B3AF-D7EF-820A-E5CF-692301970B37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069D0667-FC12-208C-FCE5-E791D4A2A7DE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B9F11E40-E96A-4DEC-C0F2-749590D053FD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3AB272EE-6738-FA17-07B7-85F64A2B0DFF}"/>
              </a:ext>
            </a:extLst>
          </p:cNvPr>
          <p:cNvSpPr txBox="1">
            <a:spLocks/>
          </p:cNvSpPr>
          <p:nvPr/>
        </p:nvSpPr>
        <p:spPr>
          <a:xfrm>
            <a:off x="331489" y="178757"/>
            <a:ext cx="6730271" cy="18362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000" dirty="0">
                <a:solidFill>
                  <a:srgbClr val="6B6B6B"/>
                </a:solidFill>
                <a:latin typeface="Congenial SemiBold" panose="020F0502020204030204" pitchFamily="2" charset="0"/>
              </a:rPr>
              <a:t>Protótipo </a:t>
            </a:r>
          </a:p>
        </p:txBody>
      </p:sp>
      <p:pic>
        <p:nvPicPr>
          <p:cNvPr id="1026" name="Picture 2" descr="Figma Logo and symbol, meaning, history, PNG, brand">
            <a:extLst>
              <a:ext uri="{FF2B5EF4-FFF2-40B4-BE49-F238E27FC236}">
                <a16:creationId xmlns:a16="http://schemas.microsoft.com/office/drawing/2014/main" id="{169CF8A2-FDCB-D3B9-F47E-2FCA6D603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917" y="1810986"/>
            <a:ext cx="4194928" cy="2359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ítulo 1">
            <a:extLst>
              <a:ext uri="{FF2B5EF4-FFF2-40B4-BE49-F238E27FC236}">
                <a16:creationId xmlns:a16="http://schemas.microsoft.com/office/drawing/2014/main" id="{3F003C1D-417F-AB81-ED1D-DBB90CBC722F}"/>
              </a:ext>
            </a:extLst>
          </p:cNvPr>
          <p:cNvSpPr txBox="1">
            <a:spLocks/>
          </p:cNvSpPr>
          <p:nvPr/>
        </p:nvSpPr>
        <p:spPr>
          <a:xfrm>
            <a:off x="2394580" y="5149379"/>
            <a:ext cx="6889601" cy="6846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rgbClr val="6B6B6B"/>
                </a:solidFill>
                <a:latin typeface="Congenial SemiBold" panose="020F0502020204030204" pitchFamily="2" charset="0"/>
              </a:rPr>
              <a:t>Utilizamos o </a:t>
            </a:r>
            <a:r>
              <a:rPr lang="pt-BR" sz="2800" dirty="0" err="1">
                <a:solidFill>
                  <a:srgbClr val="6B6B6B"/>
                </a:solidFill>
                <a:latin typeface="Congenial SemiBold" panose="020F0502020204030204" pitchFamily="2" charset="0"/>
              </a:rPr>
              <a:t>Figma</a:t>
            </a:r>
            <a:r>
              <a:rPr lang="pt-BR" sz="2800" dirty="0">
                <a:solidFill>
                  <a:srgbClr val="6B6B6B"/>
                </a:solidFill>
                <a:latin typeface="Congenial SemiBold" panose="020F0502020204030204" pitchFamily="2" charset="0"/>
              </a:rPr>
              <a:t> como ferramenta de design para criarmos o protótipo do site, permitindo a visualização como a aplicação funcionaria </a:t>
            </a:r>
            <a:r>
              <a:rPr lang="pt-BR" sz="2800">
                <a:solidFill>
                  <a:srgbClr val="6B6B6B"/>
                </a:solidFill>
                <a:latin typeface="Congenial SemiBold" panose="020F0502020204030204" pitchFamily="2" charset="0"/>
              </a:rPr>
              <a:t>antes da </a:t>
            </a:r>
            <a:r>
              <a:rPr lang="pt-BR" sz="2800" dirty="0">
                <a:solidFill>
                  <a:srgbClr val="6B6B6B"/>
                </a:solidFill>
                <a:latin typeface="Congenial SemiBold" panose="020F0502020204030204" pitchFamily="2" charset="0"/>
              </a:rPr>
              <a:t>implementação final.</a:t>
            </a:r>
          </a:p>
        </p:txBody>
      </p:sp>
    </p:spTree>
    <p:extLst>
      <p:ext uri="{BB962C8B-B14F-4D97-AF65-F5344CB8AC3E}">
        <p14:creationId xmlns:p14="http://schemas.microsoft.com/office/powerpoint/2010/main" val="2693809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8B985-D0B3-60D6-CC85-B2563C80F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D1EC090-043C-7E5E-5129-734907FD9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14457AEC-060A-DF73-276E-6E6F056F5E94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8B3C339A-D025-862A-6236-871A48DCE49C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3072FC47-2EDC-D29C-5BC2-6E1815638402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49A9B8C6-294B-3E8C-99AA-8543086BF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BBE7387B-6401-2758-7192-5A8C6AAE7C27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EC64661-6E52-C328-1E50-8555FF88D0E7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D66E550-38EC-9CA1-6AEB-248E660C1CDC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EFEDBD1F-3979-674F-212E-2ACC17756E0F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98661A53-CE3D-AD4A-7D89-C0BA57E6E8CB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D6E7E26-C4E0-35FF-046B-9ED0E0B0C1FB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C2A0AB56-49E1-EB38-7B8D-A9236F70E4E3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9ECDE952-2233-789A-6494-EFF0D3160FE4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11E04AD7-856A-AFF1-059A-92303C9D42A6}"/>
              </a:ext>
            </a:extLst>
          </p:cNvPr>
          <p:cNvSpPr txBox="1">
            <a:spLocks/>
          </p:cNvSpPr>
          <p:nvPr/>
        </p:nvSpPr>
        <p:spPr>
          <a:xfrm>
            <a:off x="-5599237" y="65200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B2E7D94B-6544-300C-C14F-D69D7B798590}"/>
              </a:ext>
            </a:extLst>
          </p:cNvPr>
          <p:cNvSpPr txBox="1">
            <a:spLocks/>
          </p:cNvSpPr>
          <p:nvPr/>
        </p:nvSpPr>
        <p:spPr>
          <a:xfrm>
            <a:off x="-5178025" y="4156195"/>
            <a:ext cx="5478179" cy="2495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Amanda Tavares de Oliveira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Lucas Santos Gama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Nicole Miranda Martins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Marina Santos Paixão Ribeiro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Matheus Jacob Duarte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Pedro Ludovic Nascimento Lima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Vitor da Luz Santos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3B4B928F-A315-8C9E-AF10-69EA0097F5FB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68EB77E1-B3B3-27CE-50FD-6DB792BCF8CB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8974A326-04F0-F66F-BF53-8FE6286426D2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CADB1D4B-4C5A-8DE8-709D-1448BF99E7ED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DDB67793-C8A1-1FFB-28D2-631B04421D80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B6ACBCCA-A26B-FBEA-1843-BCA3E046F66F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92AAB381-8A6B-CBF4-14EA-47B141B2D874}"/>
              </a:ext>
            </a:extLst>
          </p:cNvPr>
          <p:cNvSpPr txBox="1">
            <a:spLocks/>
          </p:cNvSpPr>
          <p:nvPr/>
        </p:nvSpPr>
        <p:spPr>
          <a:xfrm>
            <a:off x="331489" y="178757"/>
            <a:ext cx="6730271" cy="18362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000" dirty="0">
                <a:solidFill>
                  <a:srgbClr val="6B6B6B"/>
                </a:solidFill>
                <a:latin typeface="Congenial SemiBold" panose="020F0502020204030204" pitchFamily="2" charset="0"/>
              </a:rPr>
              <a:t>Vantagens 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F10F2F82-785A-CD0D-BBFC-C41A0D7FD5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27" r="12597"/>
          <a:stretch>
            <a:fillRect/>
          </a:stretch>
        </p:blipFill>
        <p:spPr>
          <a:xfrm>
            <a:off x="2197181" y="1969116"/>
            <a:ext cx="3680235" cy="414395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0AB8D82C-3C85-67BE-8354-D78749F51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605" y="2397801"/>
            <a:ext cx="4410691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49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4B0EC-BF21-B028-490F-AE404DF03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7CE59552-7D82-1F2E-5D0D-F08BD5067ACE}"/>
              </a:ext>
            </a:extLst>
          </p:cNvPr>
          <p:cNvGrpSpPr/>
          <p:nvPr/>
        </p:nvGrpSpPr>
        <p:grpSpPr>
          <a:xfrm>
            <a:off x="7303623" y="3665426"/>
            <a:ext cx="3002756" cy="2488235"/>
            <a:chOff x="5675500" y="3953106"/>
            <a:chExt cx="3002756" cy="2488235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52E8FF6B-F729-7915-D127-AEE9C5CE5BD8}"/>
                </a:ext>
              </a:extLst>
            </p:cNvPr>
            <p:cNvSpPr/>
            <p:nvPr/>
          </p:nvSpPr>
          <p:spPr>
            <a:xfrm>
              <a:off x="5675500" y="4298855"/>
              <a:ext cx="3002756" cy="2142486"/>
            </a:xfrm>
            <a:prstGeom prst="rect">
              <a:avLst/>
            </a:prstGeom>
            <a:solidFill>
              <a:srgbClr val="36B2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>
                  <a:latin typeface="Congenial SemiBold" panose="02000503040000020004" pitchFamily="2" charset="0"/>
                </a:rPr>
                <a:t>01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>
                  <a:latin typeface="Congenial SemiBold" panose="02000503040000020004" pitchFamily="2" charset="0"/>
                </a:rPr>
                <a:t>C001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>
                  <a:latin typeface="Congenial SemiBold" panose="02000503040000020004" pitchFamily="2" charset="0"/>
                </a:rPr>
                <a:t>150.00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>
                  <a:latin typeface="Congenial SemiBold" panose="02000503040000020004" pitchFamily="2" charset="0"/>
                </a:rPr>
                <a:t>15.00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>
                  <a:latin typeface="Congenial SemiBold" panose="02000503040000020004" pitchFamily="2" charset="0"/>
                </a:rPr>
                <a:t>28/02/2026 15:20:36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>
                  <a:latin typeface="Congenial SemiBold" panose="02000503040000020004" pitchFamily="2" charset="0"/>
                </a:rPr>
                <a:t>27/02/2026 09:30:00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>
                  <a:latin typeface="Congenial SemiBold" panose="02000503040000020004" pitchFamily="2" charset="0"/>
                </a:rPr>
                <a:t>Conservado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>
                  <a:latin typeface="Congenial SemiBold" panose="02000503040000020004" pitchFamily="2" charset="0"/>
                </a:rPr>
                <a:t>Ponto de Venda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endParaRPr lang="pt-BR" sz="1400" dirty="0">
                <a:latin typeface="Congenial SemiBold" panose="02000503040000020004" pitchFamily="2" charset="0"/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954A6F1E-D2CE-F004-F7EE-82E436DB79FD}"/>
                </a:ext>
              </a:extLst>
            </p:cNvPr>
            <p:cNvSpPr/>
            <p:nvPr/>
          </p:nvSpPr>
          <p:spPr>
            <a:xfrm>
              <a:off x="5685025" y="3953106"/>
              <a:ext cx="2984499" cy="393999"/>
            </a:xfrm>
            <a:prstGeom prst="rect">
              <a:avLst/>
            </a:prstGeom>
            <a:solidFill>
              <a:srgbClr val="7ACDE9"/>
            </a:solidFill>
            <a:ln>
              <a:solidFill>
                <a:srgbClr val="36B2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dirty="0">
                  <a:latin typeface="Congenial SemiBold" panose="02000503040000020004" pitchFamily="2" charset="0"/>
                </a:rPr>
                <a:t>Lote - exemplo</a:t>
              </a:r>
              <a:endParaRPr lang="pt-BR" dirty="0">
                <a:latin typeface="Congenial SemiBold" panose="02000503040000020004" pitchFamily="2" charset="0"/>
              </a:endParaRPr>
            </a:p>
          </p:txBody>
        </p:sp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15B774C5-BF71-20FD-3104-168204E3B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D810A502-853E-561B-A63C-3F9E5CE42029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22FC4E92-BD93-3FD0-7FA8-5CDC0EEF39A3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7DC601BE-11AA-F2B0-AD71-F65C4A11CA67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2293CD1C-C406-0364-DE6E-C6BB56A8E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8FB0BC28-ADF0-F51A-14B1-968993B5FA2F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378CE8B-58BA-83D7-886C-3D58811AE8FE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93FEE1D-F380-A032-BB8A-64D1AA7D1448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81E847EC-F6CA-7D17-6BD7-705681F932A3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27D60652-02FA-E909-66BB-5BD8AABF8C71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FA5EB9D5-211B-1341-E7E2-3EA68AD6DECA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92F1E8E-FD10-6447-5D3E-8A90601319AD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45FE8677-94F3-8C9A-F8E2-6E17C22A280B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49330D62-F788-51DE-EEFF-9D677791DBE4}"/>
              </a:ext>
            </a:extLst>
          </p:cNvPr>
          <p:cNvSpPr txBox="1">
            <a:spLocks/>
          </p:cNvSpPr>
          <p:nvPr/>
        </p:nvSpPr>
        <p:spPr>
          <a:xfrm>
            <a:off x="-5599237" y="65200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0C9F4E7C-26C1-9C94-1A1E-6A89BD9CB798}"/>
              </a:ext>
            </a:extLst>
          </p:cNvPr>
          <p:cNvSpPr txBox="1">
            <a:spLocks/>
          </p:cNvSpPr>
          <p:nvPr/>
        </p:nvSpPr>
        <p:spPr>
          <a:xfrm>
            <a:off x="-5178025" y="4156195"/>
            <a:ext cx="5478179" cy="2495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Amanda Tavares de Oliveira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Lucas Santos Gama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Nicole Miranda Martins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Marina Santos Paixão Ribeiro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Matheus Jacob Duarte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Pedro Ludovic Nascimento Lima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Vitor da Luz Santos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0BC7C7AB-4747-71F1-A3AA-FDC492738C10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4F8533ED-0174-CE3C-9A98-A07D72EEB00C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4AEAF2B6-ED48-80CC-8E17-13A14C047FD1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CD2798B2-21C3-7FF7-59E0-D9A1353639CE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E762EEC2-B001-291A-739B-32B9DBED155C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3AEFB5C8-5EFD-9924-3D84-0B81DD410945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FA2E139E-8E78-3BD5-E417-69C5CB879446}"/>
              </a:ext>
            </a:extLst>
          </p:cNvPr>
          <p:cNvSpPr txBox="1">
            <a:spLocks/>
          </p:cNvSpPr>
          <p:nvPr/>
        </p:nvSpPr>
        <p:spPr>
          <a:xfrm>
            <a:off x="331489" y="178757"/>
            <a:ext cx="6730271" cy="18362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000" dirty="0">
                <a:solidFill>
                  <a:srgbClr val="6B6B6B"/>
                </a:solidFill>
                <a:latin typeface="Congenial SemiBold" panose="020F0502020204030204" pitchFamily="2" charset="0"/>
              </a:rPr>
              <a:t>Banco de Dados 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2647CAE3-CED3-9151-1FFF-7D7E2A2DEF81}"/>
              </a:ext>
            </a:extLst>
          </p:cNvPr>
          <p:cNvGrpSpPr/>
          <p:nvPr/>
        </p:nvGrpSpPr>
        <p:grpSpPr>
          <a:xfrm>
            <a:off x="2941059" y="2115485"/>
            <a:ext cx="3002756" cy="1416857"/>
            <a:chOff x="2775744" y="2253644"/>
            <a:chExt cx="3002756" cy="1416857"/>
          </a:xfrm>
        </p:grpSpPr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id="{3901DC28-D9E9-880D-221C-B19060960072}"/>
                </a:ext>
              </a:extLst>
            </p:cNvPr>
            <p:cNvSpPr/>
            <p:nvPr/>
          </p:nvSpPr>
          <p:spPr>
            <a:xfrm>
              <a:off x="2775744" y="2599393"/>
              <a:ext cx="3002756" cy="1071108"/>
            </a:xfrm>
            <a:prstGeom prst="rect">
              <a:avLst/>
            </a:prstGeom>
            <a:solidFill>
              <a:srgbClr val="36B2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 err="1">
                  <a:latin typeface="Congenial SemiBold" panose="02000503040000020004" pitchFamily="2" charset="0"/>
                </a:rPr>
                <a:t>idUsuario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 err="1">
                  <a:latin typeface="Congenial SemiBold" panose="02000503040000020004" pitchFamily="2" charset="0"/>
                </a:rPr>
                <a:t>nomeUsuario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 err="1">
                  <a:latin typeface="Congenial SemiBold" panose="02000503040000020004" pitchFamily="2" charset="0"/>
                </a:rPr>
                <a:t>email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>
                  <a:latin typeface="Congenial SemiBold" panose="02000503040000020004" pitchFamily="2" charset="0"/>
                </a:rPr>
                <a:t>senha</a:t>
              </a:r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FC2275C8-C5E0-8B66-A8EB-02FA2156E318}"/>
                </a:ext>
              </a:extLst>
            </p:cNvPr>
            <p:cNvSpPr/>
            <p:nvPr/>
          </p:nvSpPr>
          <p:spPr>
            <a:xfrm>
              <a:off x="2785269" y="2253644"/>
              <a:ext cx="2984499" cy="393999"/>
            </a:xfrm>
            <a:prstGeom prst="rect">
              <a:avLst/>
            </a:prstGeom>
            <a:solidFill>
              <a:srgbClr val="7ACDE9"/>
            </a:solidFill>
            <a:ln>
              <a:solidFill>
                <a:srgbClr val="36B2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dirty="0" err="1">
                  <a:latin typeface="Congenial SemiBold" panose="02000503040000020004" pitchFamily="2" charset="0"/>
                </a:rPr>
                <a:t>usuario</a:t>
              </a:r>
              <a:endParaRPr lang="pt-BR" dirty="0">
                <a:latin typeface="Congenial SemiBold" panose="02000503040000020004" pitchFamily="2" charset="0"/>
              </a:endParaRPr>
            </a:p>
          </p:txBody>
        </p:sp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C3CB3A8F-3AFC-FBA5-52BC-FB8DED66AC2C}"/>
              </a:ext>
            </a:extLst>
          </p:cNvPr>
          <p:cNvGrpSpPr/>
          <p:nvPr/>
        </p:nvGrpSpPr>
        <p:grpSpPr>
          <a:xfrm>
            <a:off x="7303623" y="2115485"/>
            <a:ext cx="3002756" cy="1416857"/>
            <a:chOff x="6994312" y="2235825"/>
            <a:chExt cx="3002756" cy="1416857"/>
          </a:xfrm>
        </p:grpSpPr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728ADD9E-D794-87F2-F7F5-3EF99C662C34}"/>
                </a:ext>
              </a:extLst>
            </p:cNvPr>
            <p:cNvSpPr/>
            <p:nvPr/>
          </p:nvSpPr>
          <p:spPr>
            <a:xfrm>
              <a:off x="6994312" y="2581574"/>
              <a:ext cx="3002756" cy="1071108"/>
            </a:xfrm>
            <a:prstGeom prst="rect">
              <a:avLst/>
            </a:prstGeom>
            <a:solidFill>
              <a:srgbClr val="36B2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 err="1">
                  <a:latin typeface="Congenial SemiBold" panose="02000503040000020004" pitchFamily="2" charset="0"/>
                </a:rPr>
                <a:t>idSensor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>
                  <a:latin typeface="Congenial SemiBold" panose="02000503040000020004" pitchFamily="2" charset="0"/>
                </a:rPr>
                <a:t>temperatura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 err="1">
                  <a:latin typeface="Congenial SemiBold" panose="02000503040000020004" pitchFamily="2" charset="0"/>
                </a:rPr>
                <a:t>dtRegistro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 err="1">
                  <a:latin typeface="Congenial SemiBold" panose="02000503040000020004" pitchFamily="2" charset="0"/>
                </a:rPr>
                <a:t>localSensor</a:t>
              </a:r>
              <a:endParaRPr lang="pt-BR" sz="1400" dirty="0">
                <a:latin typeface="Congenial SemiBold" panose="02000503040000020004" pitchFamily="2" charset="0"/>
              </a:endParaRPr>
            </a:p>
          </p:txBody>
        </p:sp>
        <p:sp>
          <p:nvSpPr>
            <p:cNvPr id="31" name="Retângulo 30">
              <a:extLst>
                <a:ext uri="{FF2B5EF4-FFF2-40B4-BE49-F238E27FC236}">
                  <a16:creationId xmlns:a16="http://schemas.microsoft.com/office/drawing/2014/main" id="{05C4F38A-76B4-840A-7BEF-6AC6B5F3A744}"/>
                </a:ext>
              </a:extLst>
            </p:cNvPr>
            <p:cNvSpPr/>
            <p:nvPr/>
          </p:nvSpPr>
          <p:spPr>
            <a:xfrm>
              <a:off x="7003837" y="2235825"/>
              <a:ext cx="2984499" cy="393999"/>
            </a:xfrm>
            <a:prstGeom prst="rect">
              <a:avLst/>
            </a:prstGeom>
            <a:solidFill>
              <a:srgbClr val="7ACDE9"/>
            </a:solidFill>
            <a:ln>
              <a:solidFill>
                <a:srgbClr val="36B2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dirty="0">
                  <a:latin typeface="Congenial SemiBold" panose="02000503040000020004" pitchFamily="2" charset="0"/>
                </a:rPr>
                <a:t>sensor</a:t>
              </a:r>
              <a:endParaRPr lang="pt-BR" dirty="0">
                <a:latin typeface="Congenial SemiBold" panose="02000503040000020004" pitchFamily="2" charset="0"/>
              </a:endParaRP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4A1AA38E-90E0-5224-F72C-379C7464051C}"/>
              </a:ext>
            </a:extLst>
          </p:cNvPr>
          <p:cNvGrpSpPr/>
          <p:nvPr/>
        </p:nvGrpSpPr>
        <p:grpSpPr>
          <a:xfrm>
            <a:off x="2950584" y="3665426"/>
            <a:ext cx="3002756" cy="2488235"/>
            <a:chOff x="5675500" y="3953106"/>
            <a:chExt cx="3002756" cy="2488235"/>
          </a:xfrm>
        </p:grpSpPr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1C845758-1067-A23E-A382-C567C10AD977}"/>
                </a:ext>
              </a:extLst>
            </p:cNvPr>
            <p:cNvSpPr/>
            <p:nvPr/>
          </p:nvSpPr>
          <p:spPr>
            <a:xfrm>
              <a:off x="5675500" y="4298855"/>
              <a:ext cx="3002756" cy="2142486"/>
            </a:xfrm>
            <a:prstGeom prst="rect">
              <a:avLst/>
            </a:prstGeom>
            <a:solidFill>
              <a:srgbClr val="36B2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 err="1">
                  <a:latin typeface="Congenial SemiBold" panose="02000503040000020004" pitchFamily="2" charset="0"/>
                </a:rPr>
                <a:t>idLote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>
                  <a:latin typeface="Congenial SemiBold" panose="02000503040000020004" pitchFamily="2" charset="0"/>
                </a:rPr>
                <a:t>código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 err="1">
                  <a:latin typeface="Congenial SemiBold" panose="02000503040000020004" pitchFamily="2" charset="0"/>
                </a:rPr>
                <a:t>valorLote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 err="1">
                  <a:latin typeface="Congenial SemiBold" panose="02000503040000020004" pitchFamily="2" charset="0"/>
                </a:rPr>
                <a:t>valorProduto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 err="1">
                  <a:latin typeface="Congenial SemiBold" panose="02000503040000020004" pitchFamily="2" charset="0"/>
                </a:rPr>
                <a:t>dtEntrega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 err="1">
                  <a:latin typeface="Congenial SemiBold" panose="02000503040000020004" pitchFamily="2" charset="0"/>
                </a:rPr>
                <a:t>dtSaida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 err="1">
                  <a:latin typeface="Congenial SemiBold" panose="02000503040000020004" pitchFamily="2" charset="0"/>
                </a:rPr>
                <a:t>qldEntrega</a:t>
              </a:r>
              <a:br>
                <a:rPr lang="pt-BR" sz="1400" dirty="0">
                  <a:latin typeface="Congenial SemiBold" panose="02000503040000020004" pitchFamily="2" charset="0"/>
                </a:rPr>
              </a:br>
              <a:r>
                <a:rPr lang="pt-BR" sz="1400" dirty="0" err="1">
                  <a:latin typeface="Congenial SemiBold" panose="02000503040000020004" pitchFamily="2" charset="0"/>
                </a:rPr>
                <a:t>localLote</a:t>
              </a:r>
              <a:endParaRPr lang="pt-BR" sz="1400" dirty="0">
                <a:latin typeface="Congenial SemiBold" panose="02000503040000020004" pitchFamily="2" charset="0"/>
              </a:endParaRPr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D7ED3FB2-A9FF-0802-BDF7-94969B8877D7}"/>
                </a:ext>
              </a:extLst>
            </p:cNvPr>
            <p:cNvSpPr/>
            <p:nvPr/>
          </p:nvSpPr>
          <p:spPr>
            <a:xfrm>
              <a:off x="5685025" y="3953106"/>
              <a:ext cx="2984499" cy="393999"/>
            </a:xfrm>
            <a:prstGeom prst="rect">
              <a:avLst/>
            </a:prstGeom>
            <a:solidFill>
              <a:srgbClr val="7ACDE9"/>
            </a:solidFill>
            <a:ln>
              <a:solidFill>
                <a:srgbClr val="36B2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dirty="0">
                  <a:latin typeface="Congenial SemiBold" panose="02000503040000020004" pitchFamily="2" charset="0"/>
                </a:rPr>
                <a:t>lote</a:t>
              </a:r>
              <a:endParaRPr lang="pt-BR" dirty="0">
                <a:latin typeface="Congenial SemiBold" panose="02000503040000020004" pitchFamily="2" charset="0"/>
              </a:endParaRPr>
            </a:p>
          </p:txBody>
        </p:sp>
      </p:grpSp>
      <p:pic>
        <p:nvPicPr>
          <p:cNvPr id="6148" name="Picture 4" descr="Desvendando o Mundo do MySQL: Uma Jornada Rumo ao Domínio do Banco de Dados  -">
            <a:extLst>
              <a:ext uri="{FF2B5EF4-FFF2-40B4-BE49-F238E27FC236}">
                <a16:creationId xmlns:a16="http://schemas.microsoft.com/office/drawing/2014/main" id="{64C4241F-2559-5111-E129-68CD1E75E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91" y="2022538"/>
            <a:ext cx="1593915" cy="159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4671BF50-734C-3F7E-367C-8861C91550D5}"/>
              </a:ext>
            </a:extLst>
          </p:cNvPr>
          <p:cNvCxnSpPr>
            <a:cxnSpLocks/>
          </p:cNvCxnSpPr>
          <p:nvPr/>
        </p:nvCxnSpPr>
        <p:spPr>
          <a:xfrm>
            <a:off x="2325890" y="2096765"/>
            <a:ext cx="0" cy="3663012"/>
          </a:xfrm>
          <a:prstGeom prst="line">
            <a:avLst/>
          </a:prstGeom>
          <a:ln w="57150" cap="rnd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06937A3D-0A89-F257-39EA-2A9FC2EBF881}"/>
              </a:ext>
            </a:extLst>
          </p:cNvPr>
          <p:cNvCxnSpPr>
            <a:cxnSpLocks/>
            <a:stCxn id="34" idx="3"/>
            <a:endCxn id="3" idx="1"/>
          </p:cNvCxnSpPr>
          <p:nvPr/>
        </p:nvCxnSpPr>
        <p:spPr>
          <a:xfrm>
            <a:off x="5953340" y="5082418"/>
            <a:ext cx="1350283" cy="0"/>
          </a:xfrm>
          <a:prstGeom prst="straightConnector1">
            <a:avLst/>
          </a:prstGeom>
          <a:ln w="57150">
            <a:solidFill>
              <a:srgbClr val="7ACDE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8048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BDB3E-9C68-5690-68B1-07560AA94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8FD7422-EBD4-217F-5566-ABCE5D4D0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44363C36-02B5-36FD-5EBB-10F9EBD72984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DE6188E8-BE81-0A6A-1B20-C651746F5CBB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246F381F-DD7B-ABA6-E986-5B5611C505A7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596571AA-F6B2-CA2A-342C-0AE60C935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96FC47F6-DA1E-B1D0-6565-5718B1B385C0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B9045DA-2FC6-54C1-6F92-EFB5A66CC157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9DCE154-3AC9-225B-EA0D-04F4D1676132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6E932EA4-6193-C765-CEDA-432CA6D64253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33ACB387-4B59-D1E6-74AF-F3F72EC00C39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16277D27-4011-26E8-4EC6-8E61D795B7F5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FE45556B-51E6-C1D8-CDF7-A0B0466DBD6B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1084C66D-A078-BD36-7085-A5D57A9D2CB7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745D98FE-BF03-11B4-315B-551920239781}"/>
              </a:ext>
            </a:extLst>
          </p:cNvPr>
          <p:cNvSpPr txBox="1">
            <a:spLocks/>
          </p:cNvSpPr>
          <p:nvPr/>
        </p:nvSpPr>
        <p:spPr>
          <a:xfrm>
            <a:off x="-5599237" y="65200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7D8B4FA4-3FE2-AB8F-49B3-792998F79727}"/>
              </a:ext>
            </a:extLst>
          </p:cNvPr>
          <p:cNvSpPr txBox="1">
            <a:spLocks/>
          </p:cNvSpPr>
          <p:nvPr/>
        </p:nvSpPr>
        <p:spPr>
          <a:xfrm>
            <a:off x="-5178025" y="4156195"/>
            <a:ext cx="5478179" cy="2495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Amanda Tavares de Oliveira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Lucas Santos Gama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Nicole Miranda Martins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Marina Santos Paixão Ribeiro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Matheus Jacob Duarte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Pedro Ludovic Nascimento Lima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Vitor da Luz Santos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45923E09-C732-7922-387D-A67C81CB72D0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183E8B09-D821-B729-CB11-BE297F4A1942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5DDB7A51-1C0C-ECF8-C086-129C96D8BE7C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B969D633-5F75-333C-C3B8-34D4C3CDB712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7B1D77DD-20F0-513A-33B2-6003746F7953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2571CDBF-1311-0691-A765-43E5FC7FCF8E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94F47E87-46A8-D748-D725-05E5CFB89615}"/>
              </a:ext>
            </a:extLst>
          </p:cNvPr>
          <p:cNvSpPr txBox="1">
            <a:spLocks/>
          </p:cNvSpPr>
          <p:nvPr/>
        </p:nvSpPr>
        <p:spPr>
          <a:xfrm>
            <a:off x="331489" y="178757"/>
            <a:ext cx="6730271" cy="18362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000" dirty="0">
                <a:solidFill>
                  <a:srgbClr val="6B6B6B"/>
                </a:solidFill>
                <a:latin typeface="Congenial SemiBold" panose="020F0502020204030204" pitchFamily="2" charset="0"/>
              </a:rPr>
              <a:t>Sensor</a:t>
            </a:r>
          </a:p>
        </p:txBody>
      </p:sp>
      <p:pic>
        <p:nvPicPr>
          <p:cNvPr id="7174" name="Picture 6" descr="Arduino Logo PNG Transparent (1) – Brands Logos">
            <a:extLst>
              <a:ext uri="{FF2B5EF4-FFF2-40B4-BE49-F238E27FC236}">
                <a16:creationId xmlns:a16="http://schemas.microsoft.com/office/drawing/2014/main" id="{3D2CFDF8-EA14-E338-BD50-5D6E492E9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629" y="1675280"/>
            <a:ext cx="2418066" cy="2419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ítulo 1">
            <a:extLst>
              <a:ext uri="{FF2B5EF4-FFF2-40B4-BE49-F238E27FC236}">
                <a16:creationId xmlns:a16="http://schemas.microsoft.com/office/drawing/2014/main" id="{AB453AC0-0005-7CF2-01AE-76C3EAC91FA8}"/>
              </a:ext>
            </a:extLst>
          </p:cNvPr>
          <p:cNvSpPr txBox="1">
            <a:spLocks/>
          </p:cNvSpPr>
          <p:nvPr/>
        </p:nvSpPr>
        <p:spPr>
          <a:xfrm>
            <a:off x="1324074" y="4209496"/>
            <a:ext cx="9543852" cy="17226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rgbClr val="6B6B6B"/>
                </a:solidFill>
                <a:latin typeface="Congenial SemiBold" panose="020F0502020204030204" pitchFamily="2" charset="0"/>
              </a:rPr>
              <a:t>O Arduino será utilizado para realizar a coleta automática dos dados de temperatura por meio do sensor, enviando as informações para o sistema e permitindo o monitoramento em tempo real.</a:t>
            </a:r>
          </a:p>
        </p:txBody>
      </p:sp>
    </p:spTree>
    <p:extLst>
      <p:ext uri="{BB962C8B-B14F-4D97-AF65-F5344CB8AC3E}">
        <p14:creationId xmlns:p14="http://schemas.microsoft.com/office/powerpoint/2010/main" val="11923502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AD160-1DDA-CD97-B647-2725D3A40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F370594-CA76-CBFC-5D5F-55AE36109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E8CFC86-2E78-1441-E533-88A6D35C42D0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87414603-501A-12DF-C611-6AF7A444C538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67C98253-D180-D097-6FAA-C5DBA790B883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5AC6955C-8654-051B-E406-BD7B051B0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9DA9B07C-3A8D-BDBB-B899-7956DD6AF201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2CEB66DE-7ED8-6011-3961-8E62AA15AA31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9DAD57B-41AC-A82F-55CB-13C85DCE79CA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A3C3ECAA-51E2-EDB6-156A-82598574C94A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4F157840-5D8F-BFE0-AC82-80C5089732C0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A83E2A4-2B73-2935-1E1B-8AA72848F9E6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6D1FBA76-E099-C743-2274-E1430C1AB944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B712932E-6676-80A7-03D8-7BA0D4AAB0FF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C9ACD9E4-51AF-4838-A428-A595FEBC22F9}"/>
              </a:ext>
            </a:extLst>
          </p:cNvPr>
          <p:cNvSpPr txBox="1">
            <a:spLocks/>
          </p:cNvSpPr>
          <p:nvPr/>
        </p:nvSpPr>
        <p:spPr>
          <a:xfrm>
            <a:off x="-5599237" y="65200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EABC3356-2984-3A19-8DC5-5135069B7051}"/>
              </a:ext>
            </a:extLst>
          </p:cNvPr>
          <p:cNvSpPr txBox="1">
            <a:spLocks/>
          </p:cNvSpPr>
          <p:nvPr/>
        </p:nvSpPr>
        <p:spPr>
          <a:xfrm>
            <a:off x="-5178025" y="4156195"/>
            <a:ext cx="5478179" cy="2495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Amanda Tavares de Oliveira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Lucas Santos Gama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Nicole Miranda Martins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Marina Santos Paixão Ribeiro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Matheus Jacob Duarte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Pedro Ludovic Nascimento Lima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Vitor da Luz Santos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414082E1-4052-F92C-76EE-F63607C0D162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CCF087FC-BEA1-D19A-7702-194A36854005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674E206F-E6C9-499E-7D20-53CAE478480E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E7CA7551-6D23-AD6C-586F-7BF03F010DED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42E26C93-7266-9B77-8CB7-E61ECE177987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A91E4A2A-CC6E-A3D6-1A16-D248A36DED5C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D23A068D-9CF2-DF14-D51D-9A5D8627CAFF}"/>
              </a:ext>
            </a:extLst>
          </p:cNvPr>
          <p:cNvSpPr txBox="1">
            <a:spLocks/>
          </p:cNvSpPr>
          <p:nvPr/>
        </p:nvSpPr>
        <p:spPr>
          <a:xfrm>
            <a:off x="331489" y="178757"/>
            <a:ext cx="6730271" cy="18362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000" dirty="0">
                <a:solidFill>
                  <a:srgbClr val="6B6B6B"/>
                </a:solidFill>
                <a:latin typeface="Congenial SemiBold" panose="020F0502020204030204" pitchFamily="2" charset="0"/>
              </a:rPr>
              <a:t>Virtual Box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6BEC2B7E-7C1C-5EB7-5AF9-667D10E21598}"/>
              </a:ext>
            </a:extLst>
          </p:cNvPr>
          <p:cNvSpPr txBox="1">
            <a:spLocks/>
          </p:cNvSpPr>
          <p:nvPr/>
        </p:nvSpPr>
        <p:spPr>
          <a:xfrm>
            <a:off x="1324074" y="4209496"/>
            <a:ext cx="9543852" cy="17226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rgbClr val="6B6B6B"/>
                </a:solidFill>
                <a:latin typeface="Congenial SemiBold" panose="020F0502020204030204" pitchFamily="2" charset="0"/>
              </a:rPr>
              <a:t>Utilizamos a </a:t>
            </a:r>
            <a:r>
              <a:rPr lang="pt-BR" sz="2800" dirty="0" err="1">
                <a:solidFill>
                  <a:srgbClr val="6B6B6B"/>
                </a:solidFill>
                <a:latin typeface="Congenial SemiBold" panose="020F0502020204030204" pitchFamily="2" charset="0"/>
              </a:rPr>
              <a:t>VirtualBox</a:t>
            </a:r>
            <a:r>
              <a:rPr lang="pt-BR" sz="2800" dirty="0">
                <a:solidFill>
                  <a:srgbClr val="6B6B6B"/>
                </a:solidFill>
                <a:latin typeface="Congenial SemiBold" panose="020F0502020204030204" pitchFamily="2" charset="0"/>
              </a:rPr>
              <a:t> para hospedar uma máquina virtual com Linux, criando um ambiente controlado para desenvolvimento e testes do sistema com mais estabilidade e segurança</a:t>
            </a:r>
          </a:p>
        </p:txBody>
      </p:sp>
      <p:pic>
        <p:nvPicPr>
          <p:cNvPr id="8196" name="Picture 4" descr="Virtualbox Logo Icons - Customizable Virtual Box Icons">
            <a:extLst>
              <a:ext uri="{FF2B5EF4-FFF2-40B4-BE49-F238E27FC236}">
                <a16:creationId xmlns:a16="http://schemas.microsoft.com/office/drawing/2014/main" id="{7289EED1-6EEE-92CD-3C77-DDA76F5C4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009" y="1661614"/>
            <a:ext cx="2501358" cy="250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82052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718C-D840-AE23-2B04-A28026A90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6F722BA-7248-A806-2C64-44EB35941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021" y="3337937"/>
            <a:ext cx="8943958" cy="335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95F5FC5D-A460-CF0C-05E9-8665D9743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772596F3-699E-CC8D-04DD-24E75011E3CC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04F6CF4C-E980-9366-3144-3A04374688A8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04817158-9DF2-87F2-2B33-0DAD1AF5C371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81B32751-C53D-DE63-7AEA-8A9C448EB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D7BD9B62-360D-55B5-CDAF-6940D68BB4F9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E78E67D-2E1F-65C4-75B1-C4390342731A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AB9D127-313B-5D8E-3E2F-03B579868733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20142F49-B326-730B-A672-F9A008E430EE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4590B5FD-3B25-1945-F4C4-BD4B77D6828B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753F0C62-BA73-9F09-E73A-7DE176ED199D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788A29AA-635F-E6AC-6030-8F0E453784D3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6C76B541-383B-71A8-A9EE-FF83127CFCF5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912F43D3-BF1E-C2E3-5826-8A9738EE4840}"/>
              </a:ext>
            </a:extLst>
          </p:cNvPr>
          <p:cNvSpPr txBox="1">
            <a:spLocks/>
          </p:cNvSpPr>
          <p:nvPr/>
        </p:nvSpPr>
        <p:spPr>
          <a:xfrm>
            <a:off x="-5599237" y="65200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1159D266-A2F7-381F-0F2C-306CC392FE71}"/>
              </a:ext>
            </a:extLst>
          </p:cNvPr>
          <p:cNvSpPr txBox="1">
            <a:spLocks/>
          </p:cNvSpPr>
          <p:nvPr/>
        </p:nvSpPr>
        <p:spPr>
          <a:xfrm>
            <a:off x="-5178025" y="4156195"/>
            <a:ext cx="5478179" cy="2495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Amanda Tavares de Oliveira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Lucas Santos Gama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Nicole Miranda Martins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Marina Santos Paixão Ribeiro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Matheus Jacob Duarte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Pedro Ludovic Nascimento Lima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Vitor da Luz Santos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3A806C05-E02F-C684-12AC-7C640227B8DB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BAF0B12A-3661-58FE-B927-5B7DEFA5E39B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9C9FF4B0-89AC-FB48-5B52-6BB55D33042B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C34BDA8E-5A23-836D-D991-59F286948B81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15DB993B-6979-E30B-D4C6-26FEDA4DAE13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0FB3CC3E-7F21-A763-60E9-5241328A7AF4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A9BE7372-B838-EB8E-802A-34CE3FCA6359}"/>
              </a:ext>
            </a:extLst>
          </p:cNvPr>
          <p:cNvSpPr txBox="1">
            <a:spLocks/>
          </p:cNvSpPr>
          <p:nvPr/>
        </p:nvSpPr>
        <p:spPr>
          <a:xfrm>
            <a:off x="2955199" y="6639925"/>
            <a:ext cx="6730271" cy="18362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solidFill>
                  <a:srgbClr val="6B6B6B"/>
                </a:solidFill>
                <a:latin typeface="Congenial SemiBold" panose="020F0502020204030204" pitchFamily="2" charset="0"/>
              </a:rPr>
              <a:t>Obrigado pela atenção!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84BF3FF0-F502-0D07-E6B1-395E5B38CA04}"/>
              </a:ext>
            </a:extLst>
          </p:cNvPr>
          <p:cNvSpPr txBox="1">
            <a:spLocks/>
          </p:cNvSpPr>
          <p:nvPr/>
        </p:nvSpPr>
        <p:spPr>
          <a:xfrm>
            <a:off x="997338" y="1556513"/>
            <a:ext cx="10066648" cy="17814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rgbClr val="6B6B6B"/>
                </a:solidFill>
                <a:latin typeface="Congenial SemiBold" panose="02000503040000020004" pitchFamily="2" charset="0"/>
              </a:rPr>
              <a:t>Com maior controle da temperatura no transporte de carnes, será possível reduzir perdas, evitar prejuízos e garantir a qualidade dos produtos, beneficiando empresas, mercados e o consumidor final.</a:t>
            </a:r>
          </a:p>
        </p:txBody>
      </p:sp>
    </p:spTree>
    <p:extLst>
      <p:ext uri="{BB962C8B-B14F-4D97-AF65-F5344CB8AC3E}">
        <p14:creationId xmlns:p14="http://schemas.microsoft.com/office/powerpoint/2010/main" val="429112930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C4C1A-1012-1DC5-42D3-B303B6EFA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672BFA2-D5D1-F04D-D017-99E81910C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857" y="6603802"/>
            <a:ext cx="8943958" cy="335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B6378F21-06EF-944E-8460-1347C623B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8" y="440514"/>
            <a:ext cx="5230511" cy="1223186"/>
          </a:xfrm>
        </p:spPr>
        <p:txBody>
          <a:bodyPr>
            <a:noAutofit/>
          </a:bodyPr>
          <a:lstStyle/>
          <a:p>
            <a:r>
              <a:rPr lang="pt-BR" sz="8000" dirty="0">
                <a:solidFill>
                  <a:srgbClr val="486EEA"/>
                </a:solidFill>
                <a:latin typeface="Congenial SemiBold" panose="020F0502020204030204" pitchFamily="2" charset="0"/>
              </a:rPr>
              <a:t>FRIGO</a:t>
            </a:r>
            <a:r>
              <a:rPr lang="pt-BR" sz="8000" dirty="0">
                <a:solidFill>
                  <a:srgbClr val="E83A3A"/>
                </a:solidFill>
                <a:latin typeface="Congenial SemiBold" panose="020F0502020204030204" pitchFamily="2" charset="0"/>
              </a:rPr>
              <a:t>LOG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161204F6-F6E0-6683-CC4D-04D00D85A6DA}"/>
              </a:ext>
            </a:extLst>
          </p:cNvPr>
          <p:cNvGrpSpPr/>
          <p:nvPr/>
        </p:nvGrpSpPr>
        <p:grpSpPr>
          <a:xfrm>
            <a:off x="11131296" y="-27433"/>
            <a:ext cx="1272397" cy="914400"/>
            <a:chOff x="11131296" y="-27433"/>
            <a:chExt cx="1272397" cy="914400"/>
          </a:xfrm>
        </p:grpSpPr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68F4306C-A1B8-4B2F-8783-FAC0DF4898DF}"/>
                </a:ext>
              </a:extLst>
            </p:cNvPr>
            <p:cNvSpPr/>
            <p:nvPr/>
          </p:nvSpPr>
          <p:spPr>
            <a:xfrm rot="10800000">
              <a:off x="11131296" y="-27433"/>
              <a:ext cx="1060704" cy="914400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C8BC0E55-5C3D-C17E-A3C5-78F8B83CEA21}"/>
                </a:ext>
              </a:extLst>
            </p:cNvPr>
            <p:cNvSpPr/>
            <p:nvPr/>
          </p:nvSpPr>
          <p:spPr>
            <a:xfrm rot="10800000">
              <a:off x="11661648" y="-27433"/>
              <a:ext cx="742045" cy="639694"/>
            </a:xfrm>
            <a:prstGeom prst="triangl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37E39E0C-E203-16FF-5B06-694DFF4B9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84488" y="2454761"/>
            <a:ext cx="3534268" cy="1781424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E7B21F79-F3B0-5BF5-3B78-1E2568CB7724}"/>
              </a:ext>
            </a:extLst>
          </p:cNvPr>
          <p:cNvSpPr/>
          <p:nvPr/>
        </p:nvSpPr>
        <p:spPr>
          <a:xfrm rot="21312755">
            <a:off x="8412013" y="-78537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D6B15D0-FE86-CE34-994A-840C8FDF6EF6}"/>
              </a:ext>
            </a:extLst>
          </p:cNvPr>
          <p:cNvSpPr/>
          <p:nvPr/>
        </p:nvSpPr>
        <p:spPr>
          <a:xfrm rot="562331">
            <a:off x="6094432" y="-922724"/>
            <a:ext cx="3594100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408E35A-8D81-7AF0-5586-25752E925718}"/>
              </a:ext>
            </a:extLst>
          </p:cNvPr>
          <p:cNvSpPr/>
          <p:nvPr/>
        </p:nvSpPr>
        <p:spPr>
          <a:xfrm>
            <a:off x="-1663700" y="-785374"/>
            <a:ext cx="9389391" cy="1077788"/>
          </a:xfrm>
          <a:prstGeom prst="ellipse">
            <a:avLst/>
          </a:prstGeom>
          <a:solidFill>
            <a:srgbClr val="7AC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359E3DA-F7D3-7251-8194-3B6CADDBAB3B}"/>
              </a:ext>
            </a:extLst>
          </p:cNvPr>
          <p:cNvGrpSpPr/>
          <p:nvPr/>
        </p:nvGrpSpPr>
        <p:grpSpPr>
          <a:xfrm rot="10800000" flipH="1">
            <a:off x="-1050220" y="6250431"/>
            <a:ext cx="13669813" cy="1215138"/>
            <a:chOff x="-1516519" y="3255576"/>
            <a:chExt cx="13669813" cy="1215138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18B67F7A-9042-3C52-3C19-FF0F499CF816}"/>
                </a:ext>
              </a:extLst>
            </p:cNvPr>
            <p:cNvSpPr/>
            <p:nvPr/>
          </p:nvSpPr>
          <p:spPr>
            <a:xfrm rot="21312755">
              <a:off x="8559194" y="339292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B179D1FA-F065-E426-A724-F9814BB28443}"/>
                </a:ext>
              </a:extLst>
            </p:cNvPr>
            <p:cNvSpPr/>
            <p:nvPr/>
          </p:nvSpPr>
          <p:spPr>
            <a:xfrm rot="562331">
              <a:off x="6241613" y="3255576"/>
              <a:ext cx="3594100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003DD2FF-BC63-3A4E-A665-34B89508E297}"/>
                </a:ext>
              </a:extLst>
            </p:cNvPr>
            <p:cNvSpPr/>
            <p:nvPr/>
          </p:nvSpPr>
          <p:spPr>
            <a:xfrm>
              <a:off x="-1516519" y="3392926"/>
              <a:ext cx="9389391" cy="1077788"/>
            </a:xfrm>
            <a:prstGeom prst="ellipse">
              <a:avLst/>
            </a:prstGeom>
            <a:solidFill>
              <a:srgbClr val="7AC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CE56095E-000A-B1E9-B032-870C410FB1C9}"/>
              </a:ext>
            </a:extLst>
          </p:cNvPr>
          <p:cNvSpPr/>
          <p:nvPr/>
        </p:nvSpPr>
        <p:spPr>
          <a:xfrm>
            <a:off x="300154" y="734100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D5B7EF0A-E18D-FEE7-D24B-7C32FC8D2348}"/>
              </a:ext>
            </a:extLst>
          </p:cNvPr>
          <p:cNvSpPr txBox="1">
            <a:spLocks/>
          </p:cNvSpPr>
          <p:nvPr/>
        </p:nvSpPr>
        <p:spPr>
          <a:xfrm>
            <a:off x="-5599237" y="65200"/>
            <a:ext cx="9243712" cy="21706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MONITORAMENTO DA TEMPERATURA 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NO FLUXO DE CARNES VERMELHAS</a:t>
            </a:r>
          </a:p>
        </p:txBody>
      </p:sp>
      <p:sp>
        <p:nvSpPr>
          <p:cNvPr id="38" name="Título 1">
            <a:extLst>
              <a:ext uri="{FF2B5EF4-FFF2-40B4-BE49-F238E27FC236}">
                <a16:creationId xmlns:a16="http://schemas.microsoft.com/office/drawing/2014/main" id="{23B42846-E1A3-9DE0-4CDB-B96F9349B7A9}"/>
              </a:ext>
            </a:extLst>
          </p:cNvPr>
          <p:cNvSpPr txBox="1">
            <a:spLocks/>
          </p:cNvSpPr>
          <p:nvPr/>
        </p:nvSpPr>
        <p:spPr>
          <a:xfrm>
            <a:off x="-5178025" y="4156195"/>
            <a:ext cx="5478179" cy="2495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Amanda Tavares de Oliveira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Lucas Santos Gama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Nicole Miranda Martins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Marina Santos Paixão Ribeiro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Matheus Jacob Duarte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Pedro Ludovic Nascimento Lima</a:t>
            </a:r>
            <a:b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</a:br>
            <a:r>
              <a:rPr lang="pt-BR" sz="2400" dirty="0">
                <a:solidFill>
                  <a:srgbClr val="6B6B6B"/>
                </a:solidFill>
                <a:latin typeface="Congenial SemiBold" panose="020F0502020204030204" pitchFamily="2" charset="0"/>
              </a:rPr>
              <a:t>Vitor da Luz Santos</a:t>
            </a: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FA4C4CBC-3109-0BC5-0331-964DA6083B71}"/>
              </a:ext>
            </a:extLst>
          </p:cNvPr>
          <p:cNvSpPr/>
          <p:nvPr/>
        </p:nvSpPr>
        <p:spPr>
          <a:xfrm>
            <a:off x="300154" y="765275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AB5C427F-7073-B923-4771-097696B95C6B}"/>
              </a:ext>
            </a:extLst>
          </p:cNvPr>
          <p:cNvSpPr/>
          <p:nvPr/>
        </p:nvSpPr>
        <p:spPr>
          <a:xfrm>
            <a:off x="300154" y="796450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78C43B48-D72C-92C5-2E55-4EB117241A35}"/>
              </a:ext>
            </a:extLst>
          </p:cNvPr>
          <p:cNvSpPr/>
          <p:nvPr/>
        </p:nvSpPr>
        <p:spPr>
          <a:xfrm>
            <a:off x="300154" y="8294961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517F2E20-D7B7-BB4B-1E5F-42BA759DC0CB}"/>
              </a:ext>
            </a:extLst>
          </p:cNvPr>
          <p:cNvSpPr/>
          <p:nvPr/>
        </p:nvSpPr>
        <p:spPr>
          <a:xfrm>
            <a:off x="300154" y="8625423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62BFF47B-29E6-43BE-3E8B-EE7C62E456EF}"/>
              </a:ext>
            </a:extLst>
          </p:cNvPr>
          <p:cNvSpPr/>
          <p:nvPr/>
        </p:nvSpPr>
        <p:spPr>
          <a:xfrm>
            <a:off x="300154" y="8937170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B682DE08-8826-7FD3-170D-F7B8702C8E23}"/>
              </a:ext>
            </a:extLst>
          </p:cNvPr>
          <p:cNvSpPr/>
          <p:nvPr/>
        </p:nvSpPr>
        <p:spPr>
          <a:xfrm>
            <a:off x="300154" y="9279796"/>
            <a:ext cx="62670" cy="62670"/>
          </a:xfrm>
          <a:prstGeom prst="ellipse">
            <a:avLst/>
          </a:prstGeom>
          <a:solidFill>
            <a:srgbClr val="FFAC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D755D84C-933B-C105-6964-5184A1FDE1A8}"/>
              </a:ext>
            </a:extLst>
          </p:cNvPr>
          <p:cNvSpPr txBox="1">
            <a:spLocks/>
          </p:cNvSpPr>
          <p:nvPr/>
        </p:nvSpPr>
        <p:spPr>
          <a:xfrm>
            <a:off x="1515141" y="1948916"/>
            <a:ext cx="9389390" cy="22051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600" dirty="0">
                <a:solidFill>
                  <a:srgbClr val="6B6B6B"/>
                </a:solidFill>
                <a:latin typeface="Congenial SemiBold" panose="020F0502020204030204" pitchFamily="2" charset="0"/>
              </a:rPr>
              <a:t>Obrigado pela atenção!</a:t>
            </a:r>
          </a:p>
        </p:txBody>
      </p:sp>
    </p:spTree>
    <p:extLst>
      <p:ext uri="{BB962C8B-B14F-4D97-AF65-F5344CB8AC3E}">
        <p14:creationId xmlns:p14="http://schemas.microsoft.com/office/powerpoint/2010/main" val="26094725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1007</Words>
  <Application>Microsoft Office PowerPoint</Application>
  <PresentationFormat>Widescreen</PresentationFormat>
  <Paragraphs>114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Congenial SemiBold</vt:lpstr>
      <vt:lpstr>Tema do Office</vt:lpstr>
      <vt:lpstr>FRIGOLOG</vt:lpstr>
      <vt:lpstr>FRIGOLOG</vt:lpstr>
      <vt:lpstr>FRIGOLOG</vt:lpstr>
      <vt:lpstr>FRIGOLOG</vt:lpstr>
      <vt:lpstr>FRIGOLOG</vt:lpstr>
      <vt:lpstr>FRIGOLOG</vt:lpstr>
      <vt:lpstr>FRIGOLOG</vt:lpstr>
      <vt:lpstr>FRIGOLOG</vt:lpstr>
      <vt:lpstr>FRIGOLOG</vt:lpstr>
      <vt:lpstr>FRIGOLOG</vt:lpstr>
      <vt:lpstr>FRIGOLOG</vt:lpstr>
      <vt:lpstr>FRIGOLOG</vt:lpstr>
      <vt:lpstr>FRIGOLOG</vt:lpstr>
      <vt:lpstr>FRIGOLOG</vt:lpstr>
      <vt:lpstr>FRIGOLOG</vt:lpstr>
      <vt:lpstr>FRIGOLOG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JACOB DUARTE</dc:creator>
  <cp:lastModifiedBy>MATHEUS JACOB DUARTE</cp:lastModifiedBy>
  <cp:revision>10</cp:revision>
  <dcterms:created xsi:type="dcterms:W3CDTF">2026-03-04T00:17:42Z</dcterms:created>
  <dcterms:modified xsi:type="dcterms:W3CDTF">2026-03-10T00:36:09Z</dcterms:modified>
</cp:coreProperties>
</file>